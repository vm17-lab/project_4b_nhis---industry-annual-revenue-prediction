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11212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1456898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34558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543624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4215290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12093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2026778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83345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4201307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882660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1857561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461645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615662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23870854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977C6D-7331-459E-B268-C99E2904040E}" type="datetimeFigureOut">
              <a:rPr lang="en-IN" smtClean="0"/>
              <a:t>26-05-2026</a:t>
            </a:fld>
            <a:endParaRPr lang="en-IN" dirty="0"/>
          </a:p>
        </p:txBody>
      </p:sp>
      <p:sp>
        <p:nvSpPr>
          <p:cNvPr id="8" name="Footer Placeholder 7"/>
          <p:cNvSpPr>
            <a:spLocks noGrp="1"/>
          </p:cNvSpPr>
          <p:nvPr>
            <p:ph type="ftr" sz="quarter" idx="11"/>
          </p:nvPr>
        </p:nvSpPr>
        <p:spPr>
          <a:xfrm>
            <a:off x="561111" y="6391838"/>
            <a:ext cx="3644282" cy="304801"/>
          </a:xfrm>
        </p:spPr>
        <p:txBody>
          <a:bodyPr/>
          <a:lstStyle/>
          <a:p>
            <a:endParaRPr lang="en-IN" dirty="0"/>
          </a:p>
        </p:txBody>
      </p:sp>
      <p:sp>
        <p:nvSpPr>
          <p:cNvPr id="9" name="Slide Number Placeholder 8"/>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19566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1366897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3977C6D-7331-459E-B268-C99E2904040E}" type="datetimeFigureOut">
              <a:rPr lang="en-IN" smtClean="0"/>
              <a:t>26-05-2026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0427DB-84E4-4E11-9341-F99CFD7787FC}" type="slidenum">
              <a:rPr lang="en-IN" smtClean="0"/>
              <a:t>‹#›</a:t>
            </a:fld>
            <a:endParaRPr lang="en-IN" dirty="0"/>
          </a:p>
        </p:txBody>
      </p:sp>
    </p:spTree>
    <p:extLst>
      <p:ext uri="{BB962C8B-B14F-4D97-AF65-F5344CB8AC3E}">
        <p14:creationId xmlns:p14="http://schemas.microsoft.com/office/powerpoint/2010/main" val="3913825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3977C6D-7331-459E-B268-C99E2904040E}" type="datetimeFigureOut">
              <a:rPr lang="en-IN" smtClean="0"/>
              <a:t>26-05-2026</a:t>
            </a:fld>
            <a:endParaRPr lang="en-IN"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00427DB-84E4-4E11-9341-F99CFD7787FC}" type="slidenum">
              <a:rPr lang="en-IN" smtClean="0"/>
              <a:t>‹#›</a:t>
            </a:fld>
            <a:endParaRPr lang="en-IN" dirty="0"/>
          </a:p>
        </p:txBody>
      </p:sp>
    </p:spTree>
    <p:extLst>
      <p:ext uri="{BB962C8B-B14F-4D97-AF65-F5344CB8AC3E}">
        <p14:creationId xmlns:p14="http://schemas.microsoft.com/office/powerpoint/2010/main" val="403916132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2C48D-5BBB-DF89-5641-321A27AAF69C}"/>
              </a:ext>
            </a:extLst>
          </p:cNvPr>
          <p:cNvSpPr>
            <a:spLocks noGrp="1"/>
          </p:cNvSpPr>
          <p:nvPr>
            <p:ph type="ctrTitle"/>
          </p:nvPr>
        </p:nvSpPr>
        <p:spPr>
          <a:xfrm>
            <a:off x="1938880" y="1894776"/>
            <a:ext cx="8825658" cy="1116311"/>
          </a:xfrm>
        </p:spPr>
        <p:txBody>
          <a:bodyPr/>
          <a:lstStyle/>
          <a:p>
            <a:r>
              <a:rPr lang="en-US" dirty="0"/>
              <a:t>NEXT HIKES IT SOLUTIONS</a:t>
            </a:r>
            <a:endParaRPr lang="en-IN" dirty="0"/>
          </a:p>
        </p:txBody>
      </p:sp>
      <p:sp>
        <p:nvSpPr>
          <p:cNvPr id="3" name="Subtitle 2">
            <a:extLst>
              <a:ext uri="{FF2B5EF4-FFF2-40B4-BE49-F238E27FC236}">
                <a16:creationId xmlns:a16="http://schemas.microsoft.com/office/drawing/2014/main" id="{894094C7-2635-0E42-CAFF-B0E1460FA7DB}"/>
              </a:ext>
            </a:extLst>
          </p:cNvPr>
          <p:cNvSpPr>
            <a:spLocks noGrp="1"/>
          </p:cNvSpPr>
          <p:nvPr>
            <p:ph type="subTitle" idx="1"/>
          </p:nvPr>
        </p:nvSpPr>
        <p:spPr>
          <a:xfrm>
            <a:off x="1683171" y="3153327"/>
            <a:ext cx="8825658" cy="1835438"/>
          </a:xfrm>
        </p:spPr>
        <p:txBody>
          <a:bodyPr>
            <a:normAutofit/>
          </a:bodyPr>
          <a:lstStyle/>
          <a:p>
            <a:pPr algn="ctr"/>
            <a:r>
              <a:rPr lang="en-US" sz="3200" dirty="0">
                <a:solidFill>
                  <a:schemeClr val="bg1"/>
                </a:solidFill>
                <a:cs typeface="Arial" panose="020B0604020202020204" pitchFamily="34" charset="0"/>
              </a:rPr>
              <a:t>Vincy Mehta</a:t>
            </a:r>
          </a:p>
          <a:p>
            <a:pPr algn="ctr"/>
            <a:r>
              <a:rPr lang="en-US" sz="3200" dirty="0">
                <a:solidFill>
                  <a:schemeClr val="bg1"/>
                </a:solidFill>
              </a:rPr>
              <a:t>Industry Annual </a:t>
            </a:r>
            <a:r>
              <a:rPr lang="en-US" sz="3200" dirty="0">
                <a:solidFill>
                  <a:schemeClr val="bg1"/>
                </a:solidFill>
                <a:cs typeface="Arial" panose="020B0604020202020204" pitchFamily="34" charset="0"/>
              </a:rPr>
              <a:t>revenue</a:t>
            </a:r>
            <a:r>
              <a:rPr lang="en-US" sz="3200" dirty="0">
                <a:solidFill>
                  <a:schemeClr val="bg1"/>
                </a:solidFill>
              </a:rPr>
              <a:t> prediction </a:t>
            </a:r>
          </a:p>
          <a:p>
            <a:pPr algn="ctr"/>
            <a:endParaRPr lang="en-IN" sz="3200" dirty="0">
              <a:solidFill>
                <a:schemeClr val="bg1"/>
              </a:solidFill>
            </a:endParaRPr>
          </a:p>
        </p:txBody>
      </p:sp>
    </p:spTree>
    <p:extLst>
      <p:ext uri="{BB962C8B-B14F-4D97-AF65-F5344CB8AC3E}">
        <p14:creationId xmlns:p14="http://schemas.microsoft.com/office/powerpoint/2010/main" val="39400705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555711-B235-AD82-ED36-134FA808FDE7}"/>
              </a:ext>
            </a:extLst>
          </p:cNvPr>
          <p:cNvPicPr>
            <a:picLocks noChangeAspect="1"/>
          </p:cNvPicPr>
          <p:nvPr/>
        </p:nvPicPr>
        <p:blipFill>
          <a:blip r:embed="rId2"/>
          <a:stretch>
            <a:fillRect/>
          </a:stretch>
        </p:blipFill>
        <p:spPr>
          <a:xfrm>
            <a:off x="258724" y="1022555"/>
            <a:ext cx="5345663" cy="5034116"/>
          </a:xfrm>
          <a:prstGeom prst="rect">
            <a:avLst/>
          </a:prstGeom>
        </p:spPr>
      </p:pic>
      <p:sp>
        <p:nvSpPr>
          <p:cNvPr id="7" name="TextBox 6">
            <a:extLst>
              <a:ext uri="{FF2B5EF4-FFF2-40B4-BE49-F238E27FC236}">
                <a16:creationId xmlns:a16="http://schemas.microsoft.com/office/drawing/2014/main" id="{20AEFDCF-CB89-3FEE-BC39-428BEA70C81C}"/>
              </a:ext>
            </a:extLst>
          </p:cNvPr>
          <p:cNvSpPr txBox="1"/>
          <p:nvPr/>
        </p:nvSpPr>
        <p:spPr>
          <a:xfrm>
            <a:off x="5837276" y="692680"/>
            <a:ext cx="6096000" cy="5693866"/>
          </a:xfrm>
          <a:prstGeom prst="rect">
            <a:avLst/>
          </a:prstGeom>
          <a:noFill/>
        </p:spPr>
        <p:txBody>
          <a:bodyPr wrap="square">
            <a:spAutoFit/>
          </a:bodyPr>
          <a:lstStyle/>
          <a:p>
            <a:pPr marL="285750" indent="-285750" algn="l">
              <a:buFont typeface="Wingdings" panose="05000000000000000000" pitchFamily="2" charset="2"/>
              <a:buChar char="q"/>
            </a:pPr>
            <a:r>
              <a:rPr lang="en-US" sz="2400" b="1" i="0" dirty="0">
                <a:effectLst/>
                <a:latin typeface="Arial" panose="020B0604020202020204" pitchFamily="34" charset="0"/>
                <a:cs typeface="Arial" panose="020B0604020202020204" pitchFamily="34" charset="0"/>
              </a:rPr>
              <a:t>Insights :</a:t>
            </a:r>
          </a:p>
          <a:p>
            <a:pPr algn="l"/>
            <a:endParaRPr lang="en-US" sz="2000" b="0"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sz="2000" b="0" i="0" dirty="0">
                <a:effectLst/>
                <a:latin typeface="Arial" panose="020B0604020202020204" pitchFamily="34" charset="0"/>
                <a:cs typeface="Arial" panose="020B0604020202020204" pitchFamily="34" charset="0"/>
              </a:rPr>
              <a:t>Across almost all metrics—Employee Count, Revenue, and Customer Count—the data shows a uniform distribution. This means the business or industry has a very consistent spread of small, medium, and large-scale operations without any extreme "gaps.“</a:t>
            </a:r>
          </a:p>
          <a:p>
            <a:pPr marL="285750" indent="-285750" algn="l">
              <a:buFont typeface="Wingdings" panose="05000000000000000000" pitchFamily="2" charset="2"/>
              <a:buChar char="§"/>
            </a:pPr>
            <a:endParaRPr lang="en-US" sz="2000" b="0"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sz="2000" b="0" i="0" dirty="0">
                <a:effectLst/>
                <a:latin typeface="Arial" panose="020B0604020202020204" pitchFamily="34" charset="0"/>
                <a:cs typeface="Arial" panose="020B0604020202020204" pitchFamily="34" charset="0"/>
              </a:rPr>
              <a:t>Companies range from very small (near 0 employees) to large (5,000 employees).</a:t>
            </a:r>
          </a:p>
          <a:p>
            <a:pPr marL="285750" indent="-285750" algn="l">
              <a:buFont typeface="Wingdings" panose="05000000000000000000" pitchFamily="2" charset="2"/>
              <a:buChar char="§"/>
            </a:pPr>
            <a:endParaRPr lang="en-US" sz="2000" b="0"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sz="2000" b="0" i="0" dirty="0">
                <a:effectLst/>
                <a:latin typeface="Arial" panose="020B0604020202020204" pitchFamily="34" charset="0"/>
                <a:cs typeface="Arial" panose="020B0604020202020204" pitchFamily="34" charset="0"/>
              </a:rPr>
              <a:t>The "Market Rating" shows frequent peaks at whole numbers (1, 2, 3, 4, 5). The overall average rating is 2.5, which is exactly in the middle. This suggests there is significant room for improvement in customer satisfaction to push that average toward a 4 or 5.</a:t>
            </a:r>
          </a:p>
        </p:txBody>
      </p:sp>
    </p:spTree>
    <p:extLst>
      <p:ext uri="{BB962C8B-B14F-4D97-AF65-F5344CB8AC3E}">
        <p14:creationId xmlns:p14="http://schemas.microsoft.com/office/powerpoint/2010/main" val="16616670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F65837-ED98-D0C2-D4E3-EFB9F1FF206C}"/>
              </a:ext>
            </a:extLst>
          </p:cNvPr>
          <p:cNvPicPr>
            <a:picLocks noChangeAspect="1"/>
          </p:cNvPicPr>
          <p:nvPr/>
        </p:nvPicPr>
        <p:blipFill>
          <a:blip r:embed="rId2"/>
          <a:stretch>
            <a:fillRect/>
          </a:stretch>
        </p:blipFill>
        <p:spPr>
          <a:xfrm>
            <a:off x="501446" y="1089363"/>
            <a:ext cx="4758812" cy="4800160"/>
          </a:xfrm>
          <a:prstGeom prst="rect">
            <a:avLst/>
          </a:prstGeom>
        </p:spPr>
      </p:pic>
      <p:sp>
        <p:nvSpPr>
          <p:cNvPr id="5" name="TextBox 4">
            <a:extLst>
              <a:ext uri="{FF2B5EF4-FFF2-40B4-BE49-F238E27FC236}">
                <a16:creationId xmlns:a16="http://schemas.microsoft.com/office/drawing/2014/main" id="{D6F86EC5-AAAA-38CC-68DD-C8355ACB9542}"/>
              </a:ext>
            </a:extLst>
          </p:cNvPr>
          <p:cNvSpPr txBox="1"/>
          <p:nvPr/>
        </p:nvSpPr>
        <p:spPr>
          <a:xfrm>
            <a:off x="5466735" y="904120"/>
            <a:ext cx="6725265" cy="5170646"/>
          </a:xfrm>
          <a:prstGeom prst="rect">
            <a:avLst/>
          </a:prstGeom>
          <a:noFill/>
        </p:spPr>
        <p:txBody>
          <a:bodyPr wrap="square">
            <a:spAutoFit/>
          </a:bodyPr>
          <a:lstStyle/>
          <a:p>
            <a:pPr marL="285750" indent="-285750">
              <a:buFont typeface="Wingdings" panose="05000000000000000000" pitchFamily="2" charset="2"/>
              <a:buChar char="q"/>
            </a:pPr>
            <a:r>
              <a:rPr lang="en-IN" sz="2400" b="1" dirty="0">
                <a:latin typeface="Arial" panose="020B0604020202020204" pitchFamily="34" charset="0"/>
                <a:cs typeface="Arial" panose="020B0604020202020204" pitchFamily="34" charset="0"/>
              </a:rPr>
              <a:t>Insights :</a:t>
            </a:r>
          </a:p>
          <a:p>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dirty="0">
                <a:latin typeface="Arial" panose="020B0604020202020204" pitchFamily="34" charset="0"/>
                <a:cs typeface="Arial" panose="020B0604020202020204" pitchFamily="34" charset="0"/>
              </a:rPr>
              <a:t>The dataset is perfectly balanced across five key sectors: Finance, Technology, Retail, Manufacturing, and Healthcare.</a:t>
            </a:r>
          </a:p>
          <a:p>
            <a:pPr marL="285750" indent="-285750">
              <a:buFont typeface="Wingdings" panose="05000000000000000000" pitchFamily="2" charset="2"/>
              <a:buChar char="§"/>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dirty="0">
                <a:latin typeface="Arial" panose="020B0604020202020204" pitchFamily="34" charset="0"/>
                <a:cs typeface="Arial" panose="020B0604020202020204" pitchFamily="34" charset="0"/>
              </a:rPr>
              <a:t>Each industry has exactly 3,000 entries. This indicates a highly diversified business portfolio or study, meaning the overall performance isn't overly dependent on a single sector.</a:t>
            </a:r>
          </a:p>
          <a:p>
            <a:pPr marL="285750" indent="-285750">
              <a:buFont typeface="Wingdings" panose="05000000000000000000" pitchFamily="2" charset="2"/>
              <a:buChar char="§"/>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dirty="0">
                <a:latin typeface="Arial" panose="020B0604020202020204" pitchFamily="34" charset="0"/>
                <a:cs typeface="Arial" panose="020B0604020202020204" pitchFamily="34" charset="0"/>
              </a:rPr>
              <a:t>Each country shows a count of approximately 3,750, suggesting that the business has successfully established an identical scale of operations or data collection in each of these diverse international markets.</a:t>
            </a:r>
          </a:p>
          <a:p>
            <a:pPr marL="285750" indent="-285750">
              <a:buFont typeface="Wingdings" panose="05000000000000000000" pitchFamily="2" charset="2"/>
              <a:buChar char="§"/>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dirty="0">
                <a:latin typeface="Arial" panose="020B0604020202020204" pitchFamily="34" charset="0"/>
                <a:cs typeface="Arial" panose="020B0604020202020204" pitchFamily="34" charset="0"/>
              </a:rPr>
              <a:t>North American Focus: While the country-level data is balanced, the North America region shows a massive lead with 7,500 entries.</a:t>
            </a:r>
          </a:p>
          <a:p>
            <a:pPr marL="285750" indent="-285750">
              <a:buFont typeface="Wingdings" panose="05000000000000000000" pitchFamily="2" charset="2"/>
              <a:buChar char="§"/>
            </a:pPr>
            <a:endParaRPr lang="en-IN" sz="16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sz="1600" dirty="0">
                <a:latin typeface="Arial" panose="020B0604020202020204" pitchFamily="34" charset="0"/>
                <a:cs typeface="Arial" panose="020B0604020202020204" pitchFamily="34" charset="0"/>
              </a:rPr>
              <a:t>North America has double the presence of Asia (3,750) or Europe (3,750). This implies that North America is the primary hub for the business.</a:t>
            </a:r>
          </a:p>
        </p:txBody>
      </p:sp>
    </p:spTree>
    <p:extLst>
      <p:ext uri="{BB962C8B-B14F-4D97-AF65-F5344CB8AC3E}">
        <p14:creationId xmlns:p14="http://schemas.microsoft.com/office/powerpoint/2010/main" val="2935052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7ACDF9-54DF-867B-1500-E9A79AB795AA}"/>
              </a:ext>
            </a:extLst>
          </p:cNvPr>
          <p:cNvPicPr>
            <a:picLocks noChangeAspect="1"/>
          </p:cNvPicPr>
          <p:nvPr/>
        </p:nvPicPr>
        <p:blipFill>
          <a:blip r:embed="rId2"/>
          <a:stretch>
            <a:fillRect/>
          </a:stretch>
        </p:blipFill>
        <p:spPr>
          <a:xfrm>
            <a:off x="1309598" y="662717"/>
            <a:ext cx="8732759" cy="4422630"/>
          </a:xfrm>
          <a:prstGeom prst="rect">
            <a:avLst/>
          </a:prstGeom>
        </p:spPr>
      </p:pic>
      <p:sp>
        <p:nvSpPr>
          <p:cNvPr id="5" name="TextBox 4">
            <a:extLst>
              <a:ext uri="{FF2B5EF4-FFF2-40B4-BE49-F238E27FC236}">
                <a16:creationId xmlns:a16="http://schemas.microsoft.com/office/drawing/2014/main" id="{E49043AA-33DC-CBF9-83EB-BDE88CA4BBD5}"/>
              </a:ext>
            </a:extLst>
          </p:cNvPr>
          <p:cNvSpPr txBox="1"/>
          <p:nvPr/>
        </p:nvSpPr>
        <p:spPr>
          <a:xfrm>
            <a:off x="1652337" y="5170239"/>
            <a:ext cx="8390020" cy="1107996"/>
          </a:xfrm>
          <a:prstGeom prst="rect">
            <a:avLst/>
          </a:prstGeom>
          <a:noFill/>
        </p:spPr>
        <p:txBody>
          <a:bodyPr wrap="square">
            <a:spAutoFit/>
          </a:bodyPr>
          <a:lstStyle/>
          <a:p>
            <a:pPr marL="285750" indent="-285750">
              <a:buFont typeface="Wingdings" panose="05000000000000000000" pitchFamily="2" charset="2"/>
              <a:buChar char="q"/>
            </a:pPr>
            <a:r>
              <a:rPr lang="en-US" b="1" dirty="0"/>
              <a:t>No Statistical Outliers: (0 Outliers)</a:t>
            </a:r>
          </a:p>
          <a:p>
            <a:pPr marL="285750" indent="-285750">
              <a:buFont typeface="Wingdings" panose="05000000000000000000" pitchFamily="2" charset="2"/>
              <a:buChar char="§"/>
            </a:pPr>
            <a:r>
              <a:rPr lang="en-US" sz="1600" dirty="0">
                <a:latin typeface="Arial" panose="020B0604020202020204" pitchFamily="34" charset="0"/>
                <a:cs typeface="Arial" panose="020B0604020202020204" pitchFamily="34" charset="0"/>
              </a:rPr>
              <a:t>Across all six subplots (Employee Count, Annual Revenue Million, Profit Margin Percent, Founded Year, Customer Count, and Market Rating), there are no individual data points (dots or fliers) plotted outside the whiskers.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714355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484900-BA6F-9D86-A16C-7E5602BBC671}"/>
              </a:ext>
            </a:extLst>
          </p:cNvPr>
          <p:cNvPicPr>
            <a:picLocks noChangeAspect="1"/>
          </p:cNvPicPr>
          <p:nvPr/>
        </p:nvPicPr>
        <p:blipFill>
          <a:blip r:embed="rId2"/>
          <a:stretch>
            <a:fillRect/>
          </a:stretch>
        </p:blipFill>
        <p:spPr>
          <a:xfrm>
            <a:off x="393538" y="1028343"/>
            <a:ext cx="5451676" cy="4876869"/>
          </a:xfrm>
          <a:prstGeom prst="rect">
            <a:avLst/>
          </a:prstGeom>
        </p:spPr>
      </p:pic>
      <p:sp>
        <p:nvSpPr>
          <p:cNvPr id="5" name="TextBox 4">
            <a:extLst>
              <a:ext uri="{FF2B5EF4-FFF2-40B4-BE49-F238E27FC236}">
                <a16:creationId xmlns:a16="http://schemas.microsoft.com/office/drawing/2014/main" id="{8992AAF5-A0DE-C643-F894-2F0C73A773D5}"/>
              </a:ext>
            </a:extLst>
          </p:cNvPr>
          <p:cNvSpPr txBox="1"/>
          <p:nvPr/>
        </p:nvSpPr>
        <p:spPr>
          <a:xfrm>
            <a:off x="6273477" y="1028343"/>
            <a:ext cx="5347505" cy="4893647"/>
          </a:xfrm>
          <a:prstGeom prst="rect">
            <a:avLst/>
          </a:prstGeom>
          <a:noFill/>
        </p:spPr>
        <p:txBody>
          <a:bodyPr wrap="square">
            <a:spAutoFit/>
          </a:bodyPr>
          <a:lstStyle/>
          <a:p>
            <a:pPr marL="285750" indent="-285750">
              <a:buFont typeface="Wingdings" panose="05000000000000000000" pitchFamily="2" charset="2"/>
              <a:buChar char="q"/>
            </a:pPr>
            <a:r>
              <a:rPr lang="en-IN" sz="2400" b="1" dirty="0">
                <a:latin typeface="Arial" panose="020B0604020202020204" pitchFamily="34" charset="0"/>
                <a:cs typeface="Arial" panose="020B0604020202020204" pitchFamily="34" charset="0"/>
              </a:rPr>
              <a:t>Insights :</a:t>
            </a:r>
          </a:p>
          <a:p>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The "Very Low"(blue) employee group actually generates the highest average revenue ($554.5M).</a:t>
            </a:r>
          </a:p>
          <a:p>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This suggests that smaller teams in this dataset are highly efficient or represent high-value niche businesses.</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The revenue for the largest groups ($548.1M) is slightly lower than that of the smallest groups.</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The business model appears remarkably stable. The gap between the highest-performing group (Very Low) and the lowest (Low) is only about $7.7M, a variance of less than 1.5%.</a:t>
            </a:r>
          </a:p>
        </p:txBody>
      </p:sp>
    </p:spTree>
    <p:extLst>
      <p:ext uri="{BB962C8B-B14F-4D97-AF65-F5344CB8AC3E}">
        <p14:creationId xmlns:p14="http://schemas.microsoft.com/office/powerpoint/2010/main" val="41822133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EACC49-15D7-4EED-D0E5-45C2933DBE03}"/>
              </a:ext>
            </a:extLst>
          </p:cNvPr>
          <p:cNvPicPr>
            <a:picLocks noChangeAspect="1"/>
          </p:cNvPicPr>
          <p:nvPr/>
        </p:nvPicPr>
        <p:blipFill>
          <a:blip r:embed="rId2"/>
          <a:stretch>
            <a:fillRect/>
          </a:stretch>
        </p:blipFill>
        <p:spPr>
          <a:xfrm>
            <a:off x="104172" y="608428"/>
            <a:ext cx="5910805" cy="5708520"/>
          </a:xfrm>
          <a:prstGeom prst="rect">
            <a:avLst/>
          </a:prstGeom>
        </p:spPr>
      </p:pic>
      <p:sp>
        <p:nvSpPr>
          <p:cNvPr id="5" name="TextBox 4">
            <a:extLst>
              <a:ext uri="{FF2B5EF4-FFF2-40B4-BE49-F238E27FC236}">
                <a16:creationId xmlns:a16="http://schemas.microsoft.com/office/drawing/2014/main" id="{2384C96A-A7A1-6EC5-CCCE-824BC540EE57}"/>
              </a:ext>
            </a:extLst>
          </p:cNvPr>
          <p:cNvSpPr txBox="1"/>
          <p:nvPr/>
        </p:nvSpPr>
        <p:spPr>
          <a:xfrm>
            <a:off x="6261904" y="504256"/>
            <a:ext cx="5930096" cy="6278642"/>
          </a:xfrm>
          <a:prstGeom prst="rect">
            <a:avLst/>
          </a:prstGeom>
          <a:noFill/>
        </p:spPr>
        <p:txBody>
          <a:bodyPr wrap="square">
            <a:spAutoFit/>
          </a:bodyPr>
          <a:lstStyle/>
          <a:p>
            <a:pPr marL="285750" indent="-285750" algn="l">
              <a:buFont typeface="Wingdings" panose="05000000000000000000" pitchFamily="2" charset="2"/>
              <a:buChar char="q"/>
            </a:pPr>
            <a:r>
              <a:rPr lang="en-US" sz="2400" b="1" i="0" dirty="0">
                <a:effectLst/>
                <a:latin typeface="Arial" panose="020B0604020202020204" pitchFamily="34" charset="0"/>
                <a:cs typeface="Arial" panose="020B0604020202020204" pitchFamily="34" charset="0"/>
              </a:rPr>
              <a:t>Insights :</a:t>
            </a:r>
          </a:p>
          <a:p>
            <a:pPr marL="285750" indent="-285750" algn="l">
              <a:buFont typeface="Wingdings" panose="05000000000000000000" pitchFamily="2" charset="2"/>
              <a:buChar char="§"/>
            </a:pPr>
            <a:endParaRPr lang="en-US"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Based on the bar chart for Avg Profit Margin by Market Rating Group.</a:t>
            </a:r>
          </a:p>
          <a:p>
            <a:pPr marL="285750" indent="-285750" algn="l">
              <a:buFont typeface="Wingdings" panose="05000000000000000000" pitchFamily="2" charset="2"/>
              <a:buChar char="§"/>
            </a:pPr>
            <a:endParaRPr lang="en-US"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Profit margins are incredibly consistent across all market rating groups. Every single category maintains a margin of approximately 25%, regardless of its rating.</a:t>
            </a:r>
          </a:p>
          <a:p>
            <a:pPr marL="285750" indent="-285750" algn="l">
              <a:buFont typeface="Wingdings" panose="05000000000000000000" pitchFamily="2" charset="2"/>
              <a:buChar char="§"/>
            </a:pPr>
            <a:endParaRPr lang="en-US"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The 3-4 rating group shows the highest average profit margin at 25.2%, though the lead is very slim.</a:t>
            </a:r>
          </a:p>
          <a:p>
            <a:pPr marL="285750" indent="-285750" algn="l">
              <a:buFont typeface="Wingdings" panose="05000000000000000000" pitchFamily="2" charset="2"/>
              <a:buChar char="§"/>
            </a:pPr>
            <a:endParaRPr lang="en-US"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There is no clear correlation between a higher market rating and a higher profit margin. For example, the 5+ group (the highest rating) actually has the lowest average margin at 24.8%.</a:t>
            </a:r>
          </a:p>
          <a:p>
            <a:pPr marL="285750" indent="-285750" algn="l">
              <a:buFont typeface="Wingdings" panose="05000000000000000000" pitchFamily="2" charset="2"/>
              <a:buChar char="§"/>
            </a:pPr>
            <a:endParaRPr lang="en-US" i="0" dirty="0">
              <a:effectLst/>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
            </a:pPr>
            <a:r>
              <a:rPr lang="en-US" i="0" dirty="0">
                <a:effectLst/>
                <a:latin typeface="Arial" panose="020B0604020202020204" pitchFamily="34" charset="0"/>
                <a:cs typeface="Arial" panose="020B0604020202020204" pitchFamily="34" charset="0"/>
              </a:rPr>
              <a:t>From a business planning perspective, the data suggests that profit outcomes are highly predictable. The total variance between the highest and lowest groups is only 0.4%.</a:t>
            </a:r>
          </a:p>
        </p:txBody>
      </p:sp>
    </p:spTree>
    <p:extLst>
      <p:ext uri="{BB962C8B-B14F-4D97-AF65-F5344CB8AC3E}">
        <p14:creationId xmlns:p14="http://schemas.microsoft.com/office/powerpoint/2010/main" val="5888150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B4890A-C7D4-B9BB-CD40-E87E2E76528E}"/>
              </a:ext>
            </a:extLst>
          </p:cNvPr>
          <p:cNvPicPr>
            <a:picLocks noChangeAspect="1"/>
          </p:cNvPicPr>
          <p:nvPr/>
        </p:nvPicPr>
        <p:blipFill>
          <a:blip r:embed="rId2"/>
          <a:stretch>
            <a:fillRect/>
          </a:stretch>
        </p:blipFill>
        <p:spPr>
          <a:xfrm>
            <a:off x="0" y="837172"/>
            <a:ext cx="5982042" cy="5355284"/>
          </a:xfrm>
          <a:prstGeom prst="rect">
            <a:avLst/>
          </a:prstGeom>
        </p:spPr>
      </p:pic>
      <p:sp>
        <p:nvSpPr>
          <p:cNvPr id="5" name="TextBox 4">
            <a:extLst>
              <a:ext uri="{FF2B5EF4-FFF2-40B4-BE49-F238E27FC236}">
                <a16:creationId xmlns:a16="http://schemas.microsoft.com/office/drawing/2014/main" id="{AB5F2FB1-41DC-1F53-6D82-3DD05F6939F9}"/>
              </a:ext>
            </a:extLst>
          </p:cNvPr>
          <p:cNvSpPr txBox="1"/>
          <p:nvPr/>
        </p:nvSpPr>
        <p:spPr>
          <a:xfrm>
            <a:off x="6209960" y="864116"/>
            <a:ext cx="5847285" cy="5170646"/>
          </a:xfrm>
          <a:prstGeom prst="rect">
            <a:avLst/>
          </a:prstGeom>
          <a:noFill/>
        </p:spPr>
        <p:txBody>
          <a:bodyPr wrap="square">
            <a:spAutoFit/>
          </a:bodyPr>
          <a:lstStyle/>
          <a:p>
            <a:pPr marL="342900" indent="-342900">
              <a:buFont typeface="Wingdings" panose="05000000000000000000" pitchFamily="2" charset="2"/>
              <a:buChar char="q"/>
            </a:pPr>
            <a:r>
              <a:rPr lang="en-IN" sz="2400" b="1" dirty="0">
                <a:latin typeface="Arial" panose="020B0604020202020204" pitchFamily="34" charset="0"/>
                <a:cs typeface="Arial" panose="020B0604020202020204" pitchFamily="34" charset="0"/>
              </a:rPr>
              <a:t>Insights :</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Canada has the highest average customer count among the top countries, with 51,453 customers.</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The USA generates the highest average revenue at $552.9M. This suggests that American customers may have a higher "average spend" or lifetime value.</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India has the lowest customer count in this specific group (49,994) but generates the second-highest revenue ($551.9M). This indicates a very efficient business model in India, earning more money per customer than Germany or Canada.</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Germany sits in the middle for customer volume (50,197) but has the lowest average revenue in this set ($545.8M).</a:t>
            </a:r>
          </a:p>
        </p:txBody>
      </p:sp>
    </p:spTree>
    <p:extLst>
      <p:ext uri="{BB962C8B-B14F-4D97-AF65-F5344CB8AC3E}">
        <p14:creationId xmlns:p14="http://schemas.microsoft.com/office/powerpoint/2010/main" val="11086142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65D72F-6DE3-729D-F1ED-C62884FA73BF}"/>
              </a:ext>
            </a:extLst>
          </p:cNvPr>
          <p:cNvPicPr>
            <a:picLocks noChangeAspect="1"/>
          </p:cNvPicPr>
          <p:nvPr/>
        </p:nvPicPr>
        <p:blipFill>
          <a:blip r:embed="rId2"/>
          <a:stretch>
            <a:fillRect/>
          </a:stretch>
        </p:blipFill>
        <p:spPr>
          <a:xfrm>
            <a:off x="417328" y="523596"/>
            <a:ext cx="5879300" cy="5877203"/>
          </a:xfrm>
          <a:prstGeom prst="rect">
            <a:avLst/>
          </a:prstGeom>
        </p:spPr>
      </p:pic>
      <p:sp>
        <p:nvSpPr>
          <p:cNvPr id="5" name="TextBox 4">
            <a:extLst>
              <a:ext uri="{FF2B5EF4-FFF2-40B4-BE49-F238E27FC236}">
                <a16:creationId xmlns:a16="http://schemas.microsoft.com/office/drawing/2014/main" id="{36400D2F-0180-982F-8A4A-3F4AE12F240D}"/>
              </a:ext>
            </a:extLst>
          </p:cNvPr>
          <p:cNvSpPr txBox="1"/>
          <p:nvPr/>
        </p:nvSpPr>
        <p:spPr>
          <a:xfrm>
            <a:off x="6296628" y="676155"/>
            <a:ext cx="5676742" cy="5724644"/>
          </a:xfrm>
          <a:prstGeom prst="rect">
            <a:avLst/>
          </a:prstGeom>
          <a:noFill/>
        </p:spPr>
        <p:txBody>
          <a:bodyPr wrap="square">
            <a:spAutoFit/>
          </a:bodyPr>
          <a:lstStyle/>
          <a:p>
            <a:pPr marL="342900" indent="-342900">
              <a:buFont typeface="Wingdings" panose="05000000000000000000" pitchFamily="2" charset="2"/>
              <a:buChar char="q"/>
            </a:pPr>
            <a:r>
              <a:rPr lang="en-IN" sz="2400" b="1" dirty="0">
                <a:latin typeface="Arial" panose="020B0604020202020204" pitchFamily="34" charset="0"/>
                <a:cs typeface="Arial" panose="020B0604020202020204" pitchFamily="34" charset="0"/>
              </a:rPr>
              <a:t>Insights :</a:t>
            </a:r>
          </a:p>
          <a:p>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Based on the line chart for Industry × Founded Year × Annual Revenue.</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Companies in the Retail sector founded between 2001.6 and 2007.4 reached the highest average revenue in the entire chart, peaking at over $580M.</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While many industries saw a decline in recent years, Healthcare shows a strong upward trend for companies founded between 2013.2 and 2019.0, becoming the top-performing sector for that specific period.</a:t>
            </a:r>
          </a:p>
          <a:p>
            <a:pPr marL="285750" indent="-285750">
              <a:buFont typeface="Wingdings" panose="05000000000000000000" pitchFamily="2" charset="2"/>
              <a:buChar char="§"/>
            </a:pPr>
            <a:endParaRPr lang="en-IN"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IN" dirty="0">
                <a:latin typeface="Arial" panose="020B0604020202020204" pitchFamily="34" charset="0"/>
                <a:cs typeface="Arial" panose="020B0604020202020204" pitchFamily="34" charset="0"/>
              </a:rPr>
              <a:t>Technology companies founded in the earliest period (1989.9–1995.8) started with very high revenue, but there has been a general downward trend for newer Tech firms founded in subsequent years.</a:t>
            </a:r>
          </a:p>
        </p:txBody>
      </p:sp>
    </p:spTree>
    <p:extLst>
      <p:ext uri="{BB962C8B-B14F-4D97-AF65-F5344CB8AC3E}">
        <p14:creationId xmlns:p14="http://schemas.microsoft.com/office/powerpoint/2010/main" val="10546435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61201CA-A992-EB18-8E68-3C62D91F13EC}"/>
              </a:ext>
            </a:extLst>
          </p:cNvPr>
          <p:cNvGraphicFramePr>
            <a:graphicFrameLocks noGrp="1"/>
          </p:cNvGraphicFramePr>
          <p:nvPr>
            <p:extLst>
              <p:ext uri="{D42A27DB-BD31-4B8C-83A1-F6EECF244321}">
                <p14:modId xmlns:p14="http://schemas.microsoft.com/office/powerpoint/2010/main" val="2684191489"/>
              </p:ext>
            </p:extLst>
          </p:nvPr>
        </p:nvGraphicFramePr>
        <p:xfrm>
          <a:off x="1018571" y="829584"/>
          <a:ext cx="9444939" cy="5004055"/>
        </p:xfrm>
        <a:graphic>
          <a:graphicData uri="http://schemas.openxmlformats.org/drawingml/2006/table">
            <a:tbl>
              <a:tblPr>
                <a:tableStyleId>{35758FB7-9AC5-4552-8A53-C91805E547FA}</a:tableStyleId>
              </a:tblPr>
              <a:tblGrid>
                <a:gridCol w="3148313">
                  <a:extLst>
                    <a:ext uri="{9D8B030D-6E8A-4147-A177-3AD203B41FA5}">
                      <a16:colId xmlns:a16="http://schemas.microsoft.com/office/drawing/2014/main" val="1753551385"/>
                    </a:ext>
                  </a:extLst>
                </a:gridCol>
                <a:gridCol w="3148313">
                  <a:extLst>
                    <a:ext uri="{9D8B030D-6E8A-4147-A177-3AD203B41FA5}">
                      <a16:colId xmlns:a16="http://schemas.microsoft.com/office/drawing/2014/main" val="2223571861"/>
                    </a:ext>
                  </a:extLst>
                </a:gridCol>
                <a:gridCol w="3148313">
                  <a:extLst>
                    <a:ext uri="{9D8B030D-6E8A-4147-A177-3AD203B41FA5}">
                      <a16:colId xmlns:a16="http://schemas.microsoft.com/office/drawing/2014/main" val="1532040979"/>
                    </a:ext>
                  </a:extLst>
                </a:gridCol>
              </a:tblGrid>
              <a:tr h="354391">
                <a:tc>
                  <a:txBody>
                    <a:bodyPr/>
                    <a:lstStyle/>
                    <a:p>
                      <a:pPr algn="ctr">
                        <a:buNone/>
                      </a:pPr>
                      <a:r>
                        <a:rPr lang="en-IN" sz="1200" b="1" dirty="0"/>
                        <a:t>New Feature</a:t>
                      </a:r>
                    </a:p>
                  </a:txBody>
                  <a:tcPr marL="59935" marR="59935" marT="29968" marB="29968" anchor="ctr"/>
                </a:tc>
                <a:tc>
                  <a:txBody>
                    <a:bodyPr/>
                    <a:lstStyle/>
                    <a:p>
                      <a:pPr algn="ctr">
                        <a:buNone/>
                      </a:pPr>
                      <a:r>
                        <a:rPr lang="en-IN" sz="1200" b="1" dirty="0"/>
                        <a:t>Formula</a:t>
                      </a:r>
                    </a:p>
                  </a:txBody>
                  <a:tcPr marL="59935" marR="59935" marT="29968" marB="29968" anchor="ctr"/>
                </a:tc>
                <a:tc>
                  <a:txBody>
                    <a:bodyPr/>
                    <a:lstStyle/>
                    <a:p>
                      <a:pPr algn="ctr">
                        <a:buNone/>
                      </a:pPr>
                      <a:r>
                        <a:rPr lang="en-IN" sz="1200" b="1" dirty="0"/>
                        <a:t>Business Meaning</a:t>
                      </a:r>
                    </a:p>
                  </a:txBody>
                  <a:tcPr marL="59935" marR="59935" marT="29968" marB="29968" anchor="ctr"/>
                </a:tc>
                <a:extLst>
                  <a:ext uri="{0D108BD9-81ED-4DB2-BD59-A6C34878D82A}">
                    <a16:rowId xmlns:a16="http://schemas.microsoft.com/office/drawing/2014/main" val="2375495279"/>
                  </a:ext>
                </a:extLst>
              </a:tr>
              <a:tr h="1137180">
                <a:tc>
                  <a:txBody>
                    <a:bodyPr/>
                    <a:lstStyle/>
                    <a:p>
                      <a:pPr algn="ctr">
                        <a:buNone/>
                      </a:pPr>
                      <a:r>
                        <a:rPr lang="en-IN" sz="1200" b="1" dirty="0"/>
                        <a:t>company age</a:t>
                      </a:r>
                    </a:p>
                  </a:txBody>
                  <a:tcPr marL="59935" marR="59935" marT="29968" marB="29968" anchor="ctr"/>
                </a:tc>
                <a:tc>
                  <a:txBody>
                    <a:bodyPr/>
                    <a:lstStyle/>
                    <a:p>
                      <a:pPr algn="ctr">
                        <a:buNone/>
                      </a:pPr>
                      <a:r>
                        <a:rPr lang="en-US" sz="1200" b="1" dirty="0"/>
                        <a:t>max year of dataset − founded year</a:t>
                      </a:r>
                    </a:p>
                  </a:txBody>
                  <a:tcPr marL="59935" marR="59935" marT="29968" marB="29968" anchor="ctr"/>
                </a:tc>
                <a:tc>
                  <a:txBody>
                    <a:bodyPr/>
                    <a:lstStyle/>
                    <a:p>
                      <a:pPr algn="ctr">
                        <a:buNone/>
                      </a:pPr>
                      <a:r>
                        <a:rPr lang="en-US" sz="1200" b="1" dirty="0"/>
                        <a:t>Captures company maturity; older firms often behave differently in revenue and risk</a:t>
                      </a:r>
                    </a:p>
                  </a:txBody>
                  <a:tcPr marL="59935" marR="59935" marT="29968" marB="29968" anchor="ctr"/>
                </a:tc>
                <a:extLst>
                  <a:ext uri="{0D108BD9-81ED-4DB2-BD59-A6C34878D82A}">
                    <a16:rowId xmlns:a16="http://schemas.microsoft.com/office/drawing/2014/main" val="1584312906"/>
                  </a:ext>
                </a:extLst>
              </a:tr>
              <a:tr h="888219">
                <a:tc>
                  <a:txBody>
                    <a:bodyPr/>
                    <a:lstStyle/>
                    <a:p>
                      <a:pPr algn="ctr">
                        <a:buNone/>
                      </a:pPr>
                      <a:r>
                        <a:rPr lang="en-IN" sz="1200" b="1" dirty="0"/>
                        <a:t>rev_per_employee</a:t>
                      </a:r>
                    </a:p>
                  </a:txBody>
                  <a:tcPr marL="59935" marR="59935" marT="29968" marB="29968" anchor="ctr"/>
                </a:tc>
                <a:tc>
                  <a:txBody>
                    <a:bodyPr/>
                    <a:lstStyle/>
                    <a:p>
                      <a:pPr algn="ctr">
                        <a:buNone/>
                      </a:pPr>
                      <a:r>
                        <a:rPr lang="en-US" sz="1200" b="1" dirty="0"/>
                        <a:t>annual revenue ÷ (employee count + 1)</a:t>
                      </a:r>
                    </a:p>
                  </a:txBody>
                  <a:tcPr marL="59935" marR="59935" marT="29968" marB="29968" anchor="ctr"/>
                </a:tc>
                <a:tc>
                  <a:txBody>
                    <a:bodyPr/>
                    <a:lstStyle/>
                    <a:p>
                      <a:pPr algn="ctr">
                        <a:buNone/>
                      </a:pPr>
                      <a:r>
                        <a:rPr lang="en-US" sz="1200" b="1" dirty="0"/>
                        <a:t>Efficiency metric — how much revenue each employee generates</a:t>
                      </a:r>
                    </a:p>
                  </a:txBody>
                  <a:tcPr marL="59935" marR="59935" marT="29968" marB="29968" anchor="ctr"/>
                </a:tc>
                <a:extLst>
                  <a:ext uri="{0D108BD9-81ED-4DB2-BD59-A6C34878D82A}">
                    <a16:rowId xmlns:a16="http://schemas.microsoft.com/office/drawing/2014/main" val="1643075098"/>
                  </a:ext>
                </a:extLst>
              </a:tr>
              <a:tr h="874755">
                <a:tc>
                  <a:txBody>
                    <a:bodyPr/>
                    <a:lstStyle/>
                    <a:p>
                      <a:pPr algn="ctr">
                        <a:buNone/>
                      </a:pPr>
                      <a:r>
                        <a:rPr lang="en-IN" sz="1200" b="1" dirty="0"/>
                        <a:t>rev_per_customer</a:t>
                      </a:r>
                    </a:p>
                  </a:txBody>
                  <a:tcPr marL="59935" marR="59935" marT="29968" marB="29968" anchor="ctr"/>
                </a:tc>
                <a:tc>
                  <a:txBody>
                    <a:bodyPr/>
                    <a:lstStyle/>
                    <a:p>
                      <a:pPr algn="ctr">
                        <a:buNone/>
                      </a:pPr>
                      <a:r>
                        <a:rPr lang="en-US" sz="1200" b="1" dirty="0"/>
                        <a:t>annual revenue ÷ (customer count + 1)</a:t>
                      </a:r>
                    </a:p>
                  </a:txBody>
                  <a:tcPr marL="59935" marR="59935" marT="29968" marB="29968" anchor="ctr"/>
                </a:tc>
                <a:tc>
                  <a:txBody>
                    <a:bodyPr/>
                    <a:lstStyle/>
                    <a:p>
                      <a:pPr algn="ctr">
                        <a:buNone/>
                      </a:pPr>
                      <a:r>
                        <a:rPr lang="en-US" sz="1200" b="1" dirty="0"/>
                        <a:t>Monetization signal — average spend per customer</a:t>
                      </a:r>
                    </a:p>
                  </a:txBody>
                  <a:tcPr marL="59935" marR="59935" marT="29968" marB="29968" anchor="ctr"/>
                </a:tc>
                <a:extLst>
                  <a:ext uri="{0D108BD9-81ED-4DB2-BD59-A6C34878D82A}">
                    <a16:rowId xmlns:a16="http://schemas.microsoft.com/office/drawing/2014/main" val="2805507220"/>
                  </a:ext>
                </a:extLst>
              </a:tr>
              <a:tr h="874755">
                <a:tc>
                  <a:txBody>
                    <a:bodyPr/>
                    <a:lstStyle/>
                    <a:p>
                      <a:pPr algn="ctr">
                        <a:buNone/>
                      </a:pPr>
                      <a:r>
                        <a:rPr lang="en-IN" sz="1200" b="1" dirty="0"/>
                        <a:t>emp_x_rating</a:t>
                      </a:r>
                    </a:p>
                  </a:txBody>
                  <a:tcPr marL="59935" marR="59935" marT="29968" marB="29968" anchor="ctr"/>
                </a:tc>
                <a:tc>
                  <a:txBody>
                    <a:bodyPr/>
                    <a:lstStyle/>
                    <a:p>
                      <a:pPr algn="ctr">
                        <a:buNone/>
                      </a:pPr>
                      <a:r>
                        <a:rPr lang="en-IN" sz="1200" b="1" dirty="0"/>
                        <a:t>employee count × market rating</a:t>
                      </a:r>
                    </a:p>
                  </a:txBody>
                  <a:tcPr marL="59935" marR="59935" marT="29968" marB="29968" anchor="ctr"/>
                </a:tc>
                <a:tc>
                  <a:txBody>
                    <a:bodyPr/>
                    <a:lstStyle/>
                    <a:p>
                      <a:pPr algn="ctr">
                        <a:buNone/>
                      </a:pPr>
                      <a:r>
                        <a:rPr lang="en-US" sz="1200" b="1" dirty="0"/>
                        <a:t>Interaction term: combines scale with market sentiment</a:t>
                      </a:r>
                    </a:p>
                  </a:txBody>
                  <a:tcPr marL="59935" marR="59935" marT="29968" marB="29968" anchor="ctr"/>
                </a:tc>
                <a:extLst>
                  <a:ext uri="{0D108BD9-81ED-4DB2-BD59-A6C34878D82A}">
                    <a16:rowId xmlns:a16="http://schemas.microsoft.com/office/drawing/2014/main" val="3849130839"/>
                  </a:ext>
                </a:extLst>
              </a:tr>
              <a:tr h="874755">
                <a:tc>
                  <a:txBody>
                    <a:bodyPr/>
                    <a:lstStyle/>
                    <a:p>
                      <a:pPr algn="ctr">
                        <a:buNone/>
                      </a:pPr>
                      <a:r>
                        <a:rPr lang="en-IN" sz="1200" b="1" dirty="0"/>
                        <a:t>profit_x_rating</a:t>
                      </a:r>
                    </a:p>
                  </a:txBody>
                  <a:tcPr marL="59935" marR="59935" marT="29968" marB="29968" anchor="ctr"/>
                </a:tc>
                <a:tc>
                  <a:txBody>
                    <a:bodyPr/>
                    <a:lstStyle/>
                    <a:p>
                      <a:pPr algn="ctr">
                        <a:buNone/>
                      </a:pPr>
                      <a:r>
                        <a:rPr lang="en-IN" sz="1200" b="1" dirty="0"/>
                        <a:t>profit margin % × market rating</a:t>
                      </a:r>
                    </a:p>
                  </a:txBody>
                  <a:tcPr marL="59935" marR="59935" marT="29968" marB="29968" anchor="ctr"/>
                </a:tc>
                <a:tc>
                  <a:txBody>
                    <a:bodyPr/>
                    <a:lstStyle/>
                    <a:p>
                      <a:pPr algn="ctr">
                        <a:buNone/>
                      </a:pPr>
                      <a:r>
                        <a:rPr lang="en-US" sz="1200" b="1" dirty="0"/>
                        <a:t>Weights profitability by how the market perceives the company</a:t>
                      </a:r>
                    </a:p>
                  </a:txBody>
                  <a:tcPr marL="59935" marR="59935" marT="29968" marB="29968" anchor="ctr"/>
                </a:tc>
                <a:extLst>
                  <a:ext uri="{0D108BD9-81ED-4DB2-BD59-A6C34878D82A}">
                    <a16:rowId xmlns:a16="http://schemas.microsoft.com/office/drawing/2014/main" val="1263012502"/>
                  </a:ext>
                </a:extLst>
              </a:tr>
            </a:tbl>
          </a:graphicData>
        </a:graphic>
      </p:graphicFrame>
      <p:sp>
        <p:nvSpPr>
          <p:cNvPr id="5" name="TextBox 4">
            <a:extLst>
              <a:ext uri="{FF2B5EF4-FFF2-40B4-BE49-F238E27FC236}">
                <a16:creationId xmlns:a16="http://schemas.microsoft.com/office/drawing/2014/main" id="{1E6675A5-170F-23E2-8429-B98BD754041F}"/>
              </a:ext>
            </a:extLst>
          </p:cNvPr>
          <p:cNvSpPr txBox="1"/>
          <p:nvPr/>
        </p:nvSpPr>
        <p:spPr>
          <a:xfrm>
            <a:off x="1747777" y="6029474"/>
            <a:ext cx="8171727" cy="369332"/>
          </a:xfrm>
          <a:prstGeom prst="rect">
            <a:avLst/>
          </a:prstGeom>
          <a:noFill/>
        </p:spPr>
        <p:txBody>
          <a:bodyPr wrap="square">
            <a:spAutoFit/>
          </a:bodyPr>
          <a:lstStyle/>
          <a:p>
            <a:r>
              <a:rPr lang="en-US" b="1" u="sng" dirty="0">
                <a:latin typeface="Arial" panose="020B0604020202020204" pitchFamily="34" charset="0"/>
                <a:cs typeface="Arial" panose="020B0604020202020204" pitchFamily="34" charset="0"/>
              </a:rPr>
              <a:t>Note : The +1 in denominators prevents division-by-zero when count is 0.</a:t>
            </a:r>
            <a:endParaRPr lang="en-IN" b="1" u="sng"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63AF568-F595-102A-07B6-AA9AA33B9D02}"/>
              </a:ext>
            </a:extLst>
          </p:cNvPr>
          <p:cNvSpPr txBox="1"/>
          <p:nvPr/>
        </p:nvSpPr>
        <p:spPr>
          <a:xfrm>
            <a:off x="4409955" y="228361"/>
            <a:ext cx="315823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Feature Engineering</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34553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94922-A2FB-D645-E52D-06DACEC88268}"/>
              </a:ext>
            </a:extLst>
          </p:cNvPr>
          <p:cNvSpPr txBox="1"/>
          <p:nvPr/>
        </p:nvSpPr>
        <p:spPr>
          <a:xfrm>
            <a:off x="3963365" y="203086"/>
            <a:ext cx="3351835" cy="461665"/>
          </a:xfrm>
          <a:prstGeom prst="rect">
            <a:avLst/>
          </a:prstGeom>
          <a:noFill/>
        </p:spPr>
        <p:txBody>
          <a:bodyPr wrap="square">
            <a:spAutoFit/>
          </a:bodyPr>
          <a:lstStyle/>
          <a:p>
            <a:pPr algn="ctr"/>
            <a:r>
              <a:rPr lang="en-IN" sz="2400" b="1" dirty="0">
                <a:latin typeface="Arial" panose="020B0604020202020204" pitchFamily="34" charset="0"/>
                <a:cs typeface="Arial" panose="020B0604020202020204" pitchFamily="34" charset="0"/>
              </a:rPr>
              <a:t>Categorical Encoding</a:t>
            </a:r>
          </a:p>
        </p:txBody>
      </p:sp>
      <p:sp>
        <p:nvSpPr>
          <p:cNvPr id="5" name="TextBox 4">
            <a:extLst>
              <a:ext uri="{FF2B5EF4-FFF2-40B4-BE49-F238E27FC236}">
                <a16:creationId xmlns:a16="http://schemas.microsoft.com/office/drawing/2014/main" id="{851B0A97-1437-4D14-197A-7C80B40F5E09}"/>
              </a:ext>
            </a:extLst>
          </p:cNvPr>
          <p:cNvSpPr txBox="1"/>
          <p:nvPr/>
        </p:nvSpPr>
        <p:spPr>
          <a:xfrm>
            <a:off x="1658073" y="979781"/>
            <a:ext cx="8145683" cy="923330"/>
          </a:xfrm>
          <a:prstGeom prst="rect">
            <a:avLst/>
          </a:prstGeom>
          <a:noFill/>
        </p:spPr>
        <p:txBody>
          <a:bodyPr wrap="square">
            <a:spAutoFit/>
          </a:bodyPr>
          <a:lstStyle/>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ML models require numeric inputs. Columns like industry, country, and region contain text — Label Encoding converts each unique category to an integer.</a:t>
            </a:r>
            <a:endParaRPr lang="en-IN"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B1B3E75-6D3C-966E-1820-877ECB79B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6970" y="1903111"/>
            <a:ext cx="8145683" cy="4347218"/>
          </a:xfrm>
          <a:prstGeom prst="rect">
            <a:avLst/>
          </a:prstGeom>
        </p:spPr>
      </p:pic>
    </p:spTree>
    <p:extLst>
      <p:ext uri="{BB962C8B-B14F-4D97-AF65-F5344CB8AC3E}">
        <p14:creationId xmlns:p14="http://schemas.microsoft.com/office/powerpoint/2010/main" val="19024616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B7428D-8DC1-ED04-48A5-343820733921}"/>
              </a:ext>
            </a:extLst>
          </p:cNvPr>
          <p:cNvSpPr txBox="1"/>
          <p:nvPr/>
        </p:nvSpPr>
        <p:spPr>
          <a:xfrm>
            <a:off x="937549" y="951172"/>
            <a:ext cx="8900931" cy="2308324"/>
          </a:xfrm>
          <a:prstGeom prst="rect">
            <a:avLst/>
          </a:prstGeom>
          <a:noFill/>
        </p:spPr>
        <p:txBody>
          <a:bodyPr wrap="square">
            <a:spAutoFit/>
          </a:bodyPr>
          <a:lstStyle/>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Dataset Preparation (X / y Split)</a:t>
            </a:r>
          </a:p>
          <a:p>
            <a:pPr>
              <a:buNone/>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b="1" dirty="0">
                <a:latin typeface="Arial" panose="020B0604020202020204" pitchFamily="34" charset="0"/>
                <a:cs typeface="Arial" panose="020B0604020202020204" pitchFamily="34" charset="0"/>
              </a:rPr>
              <a:t>Define features and target:</a:t>
            </a:r>
          </a:p>
          <a:p>
            <a:pPr>
              <a:buNone/>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TARGET = the column you want to predict (e.g. annual_revenue_million)</a:t>
            </a:r>
          </a:p>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FEATURES = all remaining columns except the target</a:t>
            </a:r>
          </a:p>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X = the feature matrix passed to the model</a:t>
            </a:r>
          </a:p>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y = the target vector the model learns to predict</a:t>
            </a:r>
          </a:p>
        </p:txBody>
      </p:sp>
      <p:graphicFrame>
        <p:nvGraphicFramePr>
          <p:cNvPr id="4" name="Table 3">
            <a:extLst>
              <a:ext uri="{FF2B5EF4-FFF2-40B4-BE49-F238E27FC236}">
                <a16:creationId xmlns:a16="http://schemas.microsoft.com/office/drawing/2014/main" id="{D095C22B-555D-C8CA-A381-1B274BB29482}"/>
              </a:ext>
            </a:extLst>
          </p:cNvPr>
          <p:cNvGraphicFramePr>
            <a:graphicFrameLocks noGrp="1"/>
          </p:cNvGraphicFramePr>
          <p:nvPr>
            <p:extLst>
              <p:ext uri="{D42A27DB-BD31-4B8C-83A1-F6EECF244321}">
                <p14:modId xmlns:p14="http://schemas.microsoft.com/office/powerpoint/2010/main" val="1476995572"/>
              </p:ext>
            </p:extLst>
          </p:nvPr>
        </p:nvGraphicFramePr>
        <p:xfrm>
          <a:off x="1401162" y="3967836"/>
          <a:ext cx="8761410" cy="2286000"/>
        </p:xfrm>
        <a:graphic>
          <a:graphicData uri="http://schemas.openxmlformats.org/drawingml/2006/table">
            <a:tbl>
              <a:tblPr>
                <a:tableStyleId>{35758FB7-9AC5-4552-8A53-C91805E547FA}</a:tableStyleId>
              </a:tblPr>
              <a:tblGrid>
                <a:gridCol w="1460235">
                  <a:extLst>
                    <a:ext uri="{9D8B030D-6E8A-4147-A177-3AD203B41FA5}">
                      <a16:colId xmlns:a16="http://schemas.microsoft.com/office/drawing/2014/main" val="812671358"/>
                    </a:ext>
                  </a:extLst>
                </a:gridCol>
                <a:gridCol w="1460235">
                  <a:extLst>
                    <a:ext uri="{9D8B030D-6E8A-4147-A177-3AD203B41FA5}">
                      <a16:colId xmlns:a16="http://schemas.microsoft.com/office/drawing/2014/main" val="2859301208"/>
                    </a:ext>
                  </a:extLst>
                </a:gridCol>
                <a:gridCol w="1460235">
                  <a:extLst>
                    <a:ext uri="{9D8B030D-6E8A-4147-A177-3AD203B41FA5}">
                      <a16:colId xmlns:a16="http://schemas.microsoft.com/office/drawing/2014/main" val="851237385"/>
                    </a:ext>
                  </a:extLst>
                </a:gridCol>
                <a:gridCol w="1460235">
                  <a:extLst>
                    <a:ext uri="{9D8B030D-6E8A-4147-A177-3AD203B41FA5}">
                      <a16:colId xmlns:a16="http://schemas.microsoft.com/office/drawing/2014/main" val="2147668021"/>
                    </a:ext>
                  </a:extLst>
                </a:gridCol>
                <a:gridCol w="1460235">
                  <a:extLst>
                    <a:ext uri="{9D8B030D-6E8A-4147-A177-3AD203B41FA5}">
                      <a16:colId xmlns:a16="http://schemas.microsoft.com/office/drawing/2014/main" val="3540342780"/>
                    </a:ext>
                  </a:extLst>
                </a:gridCol>
                <a:gridCol w="1460235">
                  <a:extLst>
                    <a:ext uri="{9D8B030D-6E8A-4147-A177-3AD203B41FA5}">
                      <a16:colId xmlns:a16="http://schemas.microsoft.com/office/drawing/2014/main" val="1587533798"/>
                    </a:ext>
                  </a:extLst>
                </a:gridCol>
              </a:tblGrid>
              <a:tr h="365760">
                <a:tc>
                  <a:txBody>
                    <a:bodyPr/>
                    <a:lstStyle/>
                    <a:p>
                      <a:pPr algn="ctr">
                        <a:buNone/>
                      </a:pPr>
                      <a:r>
                        <a:rPr lang="en-IN" sz="1800" dirty="0"/>
                        <a:t>Model</a:t>
                      </a:r>
                    </a:p>
                  </a:txBody>
                  <a:tcPr anchor="ctr"/>
                </a:tc>
                <a:tc>
                  <a:txBody>
                    <a:bodyPr/>
                    <a:lstStyle/>
                    <a:p>
                      <a:pPr algn="ctr">
                        <a:buNone/>
                      </a:pPr>
                      <a:r>
                        <a:rPr lang="en-IN" sz="1800" dirty="0"/>
                        <a:t>CV R²</a:t>
                      </a:r>
                    </a:p>
                  </a:txBody>
                  <a:tcPr anchor="ctr"/>
                </a:tc>
                <a:tc>
                  <a:txBody>
                    <a:bodyPr/>
                    <a:lstStyle/>
                    <a:p>
                      <a:pPr algn="ctr">
                        <a:buNone/>
                      </a:pPr>
                      <a:r>
                        <a:rPr lang="en-IN" sz="1800" dirty="0"/>
                        <a:t>Test R²</a:t>
                      </a:r>
                    </a:p>
                  </a:txBody>
                  <a:tcPr anchor="ctr"/>
                </a:tc>
                <a:tc>
                  <a:txBody>
                    <a:bodyPr/>
                    <a:lstStyle/>
                    <a:p>
                      <a:pPr algn="ctr">
                        <a:buNone/>
                      </a:pPr>
                      <a:r>
                        <a:rPr lang="en-IN" sz="1800" dirty="0"/>
                        <a:t>RMSE</a:t>
                      </a:r>
                    </a:p>
                  </a:txBody>
                  <a:tcPr anchor="ctr"/>
                </a:tc>
                <a:tc>
                  <a:txBody>
                    <a:bodyPr/>
                    <a:lstStyle/>
                    <a:p>
                      <a:pPr algn="ctr">
                        <a:buNone/>
                      </a:pPr>
                      <a:r>
                        <a:rPr lang="en-IN" sz="1800" dirty="0"/>
                        <a:t>MAE</a:t>
                      </a:r>
                    </a:p>
                  </a:txBody>
                  <a:tcPr anchor="ctr"/>
                </a:tc>
                <a:tc>
                  <a:txBody>
                    <a:bodyPr/>
                    <a:lstStyle/>
                    <a:p>
                      <a:pPr algn="ctr">
                        <a:buNone/>
                      </a:pPr>
                      <a:r>
                        <a:rPr lang="en-IN" sz="1800" dirty="0"/>
                        <a:t>MAPE</a:t>
                      </a:r>
                    </a:p>
                  </a:txBody>
                  <a:tcPr anchor="ctr"/>
                </a:tc>
                <a:extLst>
                  <a:ext uri="{0D108BD9-81ED-4DB2-BD59-A6C34878D82A}">
                    <a16:rowId xmlns:a16="http://schemas.microsoft.com/office/drawing/2014/main" val="3086236626"/>
                  </a:ext>
                </a:extLst>
              </a:tr>
              <a:tr h="640080">
                <a:tc>
                  <a:txBody>
                    <a:bodyPr/>
                    <a:lstStyle/>
                    <a:p>
                      <a:pPr algn="ctr">
                        <a:buNone/>
                      </a:pPr>
                      <a:r>
                        <a:rPr lang="en-IN" sz="1800" b="1" dirty="0"/>
                        <a:t>XGBoost</a:t>
                      </a:r>
                      <a:r>
                        <a:rPr lang="en-IN" sz="1800" dirty="0"/>
                        <a:t> </a:t>
                      </a:r>
                    </a:p>
                  </a:txBody>
                  <a:tcPr anchor="ctr"/>
                </a:tc>
                <a:tc>
                  <a:txBody>
                    <a:bodyPr/>
                    <a:lstStyle/>
                    <a:p>
                      <a:pPr algn="ctr">
                        <a:buNone/>
                      </a:pPr>
                      <a:r>
                        <a:rPr lang="en-IN" sz="1800" b="1" dirty="0"/>
                        <a:t>0.9975</a:t>
                      </a:r>
                    </a:p>
                  </a:txBody>
                  <a:tcPr anchor="ctr"/>
                </a:tc>
                <a:tc>
                  <a:txBody>
                    <a:bodyPr/>
                    <a:lstStyle/>
                    <a:p>
                      <a:pPr algn="ctr">
                        <a:buNone/>
                      </a:pPr>
                      <a:r>
                        <a:rPr lang="en-IN" sz="1800" b="1" dirty="0"/>
                        <a:t>0.9980</a:t>
                      </a:r>
                      <a:endParaRPr lang="en-IN" sz="1800" dirty="0"/>
                    </a:p>
                  </a:txBody>
                  <a:tcPr anchor="ctr"/>
                </a:tc>
                <a:tc>
                  <a:txBody>
                    <a:bodyPr/>
                    <a:lstStyle/>
                    <a:p>
                      <a:pPr algn="ctr">
                        <a:buNone/>
                      </a:pPr>
                      <a:r>
                        <a:rPr lang="en-IN" sz="1800" b="1" dirty="0"/>
                        <a:t>12.75</a:t>
                      </a:r>
                      <a:endParaRPr lang="en-IN" sz="1800" dirty="0"/>
                    </a:p>
                  </a:txBody>
                  <a:tcPr anchor="ctr"/>
                </a:tc>
                <a:tc>
                  <a:txBody>
                    <a:bodyPr/>
                    <a:lstStyle/>
                    <a:p>
                      <a:pPr algn="ctr">
                        <a:buNone/>
                      </a:pPr>
                      <a:r>
                        <a:rPr lang="en-IN" sz="1800" b="1" dirty="0"/>
                        <a:t>7.69</a:t>
                      </a:r>
                      <a:endParaRPr lang="en-IN" sz="1800" dirty="0"/>
                    </a:p>
                  </a:txBody>
                  <a:tcPr anchor="ctr"/>
                </a:tc>
                <a:tc>
                  <a:txBody>
                    <a:bodyPr/>
                    <a:lstStyle/>
                    <a:p>
                      <a:pPr algn="ctr">
                        <a:buNone/>
                      </a:pPr>
                      <a:r>
                        <a:rPr lang="en-IN" sz="1800" b="1" dirty="0"/>
                        <a:t>1.77%</a:t>
                      </a:r>
                      <a:endParaRPr lang="en-IN" sz="1800" dirty="0"/>
                    </a:p>
                  </a:txBody>
                  <a:tcPr anchor="ctr"/>
                </a:tc>
                <a:extLst>
                  <a:ext uri="{0D108BD9-81ED-4DB2-BD59-A6C34878D82A}">
                    <a16:rowId xmlns:a16="http://schemas.microsoft.com/office/drawing/2014/main" val="1226207648"/>
                  </a:ext>
                </a:extLst>
              </a:tr>
              <a:tr h="640080">
                <a:tc>
                  <a:txBody>
                    <a:bodyPr/>
                    <a:lstStyle/>
                    <a:p>
                      <a:pPr algn="ctr">
                        <a:buNone/>
                      </a:pPr>
                      <a:r>
                        <a:rPr lang="en-IN" sz="1800" dirty="0"/>
                        <a:t>Gradient Boosting</a:t>
                      </a:r>
                    </a:p>
                  </a:txBody>
                  <a:tcPr anchor="ctr"/>
                </a:tc>
                <a:tc>
                  <a:txBody>
                    <a:bodyPr/>
                    <a:lstStyle/>
                    <a:p>
                      <a:pPr algn="ctr">
                        <a:buNone/>
                      </a:pPr>
                      <a:r>
                        <a:rPr lang="en-IN" sz="1800" dirty="0"/>
                        <a:t>0.9965</a:t>
                      </a:r>
                    </a:p>
                  </a:txBody>
                  <a:tcPr anchor="ctr"/>
                </a:tc>
                <a:tc>
                  <a:txBody>
                    <a:bodyPr/>
                    <a:lstStyle/>
                    <a:p>
                      <a:pPr algn="ctr">
                        <a:buNone/>
                      </a:pPr>
                      <a:r>
                        <a:rPr lang="en-IN" sz="1800" dirty="0"/>
                        <a:t>0.9967</a:t>
                      </a:r>
                    </a:p>
                  </a:txBody>
                  <a:tcPr anchor="ctr"/>
                </a:tc>
                <a:tc>
                  <a:txBody>
                    <a:bodyPr/>
                    <a:lstStyle/>
                    <a:p>
                      <a:pPr algn="ctr">
                        <a:buNone/>
                      </a:pPr>
                      <a:r>
                        <a:rPr lang="en-IN" sz="1800" dirty="0"/>
                        <a:t>16.43</a:t>
                      </a:r>
                    </a:p>
                  </a:txBody>
                  <a:tcPr anchor="ctr"/>
                </a:tc>
                <a:tc>
                  <a:txBody>
                    <a:bodyPr/>
                    <a:lstStyle/>
                    <a:p>
                      <a:pPr algn="ctr">
                        <a:buNone/>
                      </a:pPr>
                      <a:r>
                        <a:rPr lang="en-IN" sz="1800" dirty="0"/>
                        <a:t>11.87</a:t>
                      </a:r>
                    </a:p>
                  </a:txBody>
                  <a:tcPr anchor="ctr"/>
                </a:tc>
                <a:tc>
                  <a:txBody>
                    <a:bodyPr/>
                    <a:lstStyle/>
                    <a:p>
                      <a:pPr algn="ctr">
                        <a:buNone/>
                      </a:pPr>
                      <a:r>
                        <a:rPr lang="en-IN" sz="1800" dirty="0"/>
                        <a:t>2.89%</a:t>
                      </a:r>
                    </a:p>
                  </a:txBody>
                  <a:tcPr anchor="ctr"/>
                </a:tc>
                <a:extLst>
                  <a:ext uri="{0D108BD9-81ED-4DB2-BD59-A6C34878D82A}">
                    <a16:rowId xmlns:a16="http://schemas.microsoft.com/office/drawing/2014/main" val="1032158379"/>
                  </a:ext>
                </a:extLst>
              </a:tr>
              <a:tr h="640080">
                <a:tc>
                  <a:txBody>
                    <a:bodyPr/>
                    <a:lstStyle/>
                    <a:p>
                      <a:pPr algn="ctr">
                        <a:buNone/>
                      </a:pPr>
                      <a:r>
                        <a:rPr lang="en-IN" sz="1800" dirty="0"/>
                        <a:t>Random Forest</a:t>
                      </a:r>
                    </a:p>
                  </a:txBody>
                  <a:tcPr anchor="ctr"/>
                </a:tc>
                <a:tc>
                  <a:txBody>
                    <a:bodyPr/>
                    <a:lstStyle/>
                    <a:p>
                      <a:pPr algn="ctr">
                        <a:buNone/>
                      </a:pPr>
                      <a:r>
                        <a:rPr lang="en-IN" sz="1800" dirty="0"/>
                        <a:t>0.9673</a:t>
                      </a:r>
                    </a:p>
                  </a:txBody>
                  <a:tcPr anchor="ctr"/>
                </a:tc>
                <a:tc>
                  <a:txBody>
                    <a:bodyPr/>
                    <a:lstStyle/>
                    <a:p>
                      <a:pPr algn="ctr">
                        <a:buNone/>
                      </a:pPr>
                      <a:r>
                        <a:rPr lang="en-IN" sz="1800" dirty="0"/>
                        <a:t>0.9708</a:t>
                      </a:r>
                    </a:p>
                  </a:txBody>
                  <a:tcPr anchor="ctr"/>
                </a:tc>
                <a:tc>
                  <a:txBody>
                    <a:bodyPr/>
                    <a:lstStyle/>
                    <a:p>
                      <a:pPr algn="ctr">
                        <a:buNone/>
                      </a:pPr>
                      <a:r>
                        <a:rPr lang="en-IN" sz="1800" dirty="0"/>
                        <a:t>49.08</a:t>
                      </a:r>
                    </a:p>
                  </a:txBody>
                  <a:tcPr anchor="ctr"/>
                </a:tc>
                <a:tc>
                  <a:txBody>
                    <a:bodyPr/>
                    <a:lstStyle/>
                    <a:p>
                      <a:pPr algn="ctr">
                        <a:buNone/>
                      </a:pPr>
                      <a:r>
                        <a:rPr lang="en-IN" sz="1800" dirty="0"/>
                        <a:t>32.57</a:t>
                      </a:r>
                    </a:p>
                  </a:txBody>
                  <a:tcPr anchor="ctr"/>
                </a:tc>
                <a:tc>
                  <a:txBody>
                    <a:bodyPr/>
                    <a:lstStyle/>
                    <a:p>
                      <a:pPr algn="ctr">
                        <a:buNone/>
                      </a:pPr>
                      <a:r>
                        <a:rPr lang="en-IN" sz="1800" dirty="0"/>
                        <a:t>8.40%</a:t>
                      </a:r>
                    </a:p>
                  </a:txBody>
                  <a:tcPr anchor="ctr"/>
                </a:tc>
                <a:extLst>
                  <a:ext uri="{0D108BD9-81ED-4DB2-BD59-A6C34878D82A}">
                    <a16:rowId xmlns:a16="http://schemas.microsoft.com/office/drawing/2014/main" val="631915406"/>
                  </a:ext>
                </a:extLst>
              </a:tr>
            </a:tbl>
          </a:graphicData>
        </a:graphic>
      </p:graphicFrame>
      <p:sp>
        <p:nvSpPr>
          <p:cNvPr id="6" name="TextBox 5">
            <a:extLst>
              <a:ext uri="{FF2B5EF4-FFF2-40B4-BE49-F238E27FC236}">
                <a16:creationId xmlns:a16="http://schemas.microsoft.com/office/drawing/2014/main" id="{C7FE3D4F-B7F8-1DCF-2282-D67632229976}"/>
              </a:ext>
            </a:extLst>
          </p:cNvPr>
          <p:cNvSpPr txBox="1"/>
          <p:nvPr/>
        </p:nvSpPr>
        <p:spPr>
          <a:xfrm>
            <a:off x="839477" y="3429000"/>
            <a:ext cx="9884780" cy="369332"/>
          </a:xfrm>
          <a:prstGeom prst="rect">
            <a:avLst/>
          </a:prstGeom>
          <a:noFill/>
        </p:spPr>
        <p:txBody>
          <a:bodyPr wrap="square">
            <a:spAutoFit/>
          </a:bodyPr>
          <a:lstStyle/>
          <a:p>
            <a:pPr marL="285750" indent="-285750">
              <a:buFont typeface="Wingdings" panose="05000000000000000000" pitchFamily="2" charset="2"/>
              <a:buChar char="q"/>
            </a:pPr>
            <a:r>
              <a:rPr lang="en-US" b="1" dirty="0">
                <a:latin typeface="Arial" panose="020B0604020202020204" pitchFamily="34" charset="0"/>
                <a:cs typeface="Arial" panose="020B0604020202020204" pitchFamily="34" charset="0"/>
              </a:rPr>
              <a:t>Three models were tuned using cross-validation and evaluated on a held-out test set:</a:t>
            </a:r>
          </a:p>
        </p:txBody>
      </p:sp>
      <p:sp>
        <p:nvSpPr>
          <p:cNvPr id="9" name="TextBox 8">
            <a:extLst>
              <a:ext uri="{FF2B5EF4-FFF2-40B4-BE49-F238E27FC236}">
                <a16:creationId xmlns:a16="http://schemas.microsoft.com/office/drawing/2014/main" id="{992F7240-8B20-EEBA-4214-0A048CE8141B}"/>
              </a:ext>
            </a:extLst>
          </p:cNvPr>
          <p:cNvSpPr txBox="1"/>
          <p:nvPr/>
        </p:nvSpPr>
        <p:spPr>
          <a:xfrm>
            <a:off x="2719416" y="173923"/>
            <a:ext cx="6404317"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split the data &amp; model selection (XGBoost)</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91345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856624-77E9-6BED-72C1-8CF935BA9ED1}"/>
              </a:ext>
            </a:extLst>
          </p:cNvPr>
          <p:cNvPicPr>
            <a:picLocks noChangeAspect="1"/>
          </p:cNvPicPr>
          <p:nvPr/>
        </p:nvPicPr>
        <p:blipFill>
          <a:blip r:embed="rId2"/>
          <a:stretch>
            <a:fillRect/>
          </a:stretch>
        </p:blipFill>
        <p:spPr>
          <a:xfrm>
            <a:off x="289560" y="975360"/>
            <a:ext cx="5806440" cy="5135731"/>
          </a:xfrm>
          <a:prstGeom prst="rect">
            <a:avLst/>
          </a:prstGeom>
        </p:spPr>
      </p:pic>
      <p:sp>
        <p:nvSpPr>
          <p:cNvPr id="5" name="TextBox 4">
            <a:extLst>
              <a:ext uri="{FF2B5EF4-FFF2-40B4-BE49-F238E27FC236}">
                <a16:creationId xmlns:a16="http://schemas.microsoft.com/office/drawing/2014/main" id="{2E30AC61-86E7-BDDC-AB4A-DB23F28DBB7F}"/>
              </a:ext>
            </a:extLst>
          </p:cNvPr>
          <p:cNvSpPr txBox="1"/>
          <p:nvPr/>
        </p:nvSpPr>
        <p:spPr>
          <a:xfrm>
            <a:off x="6664960" y="1309777"/>
            <a:ext cx="5059680" cy="4801314"/>
          </a:xfrm>
          <a:prstGeom prst="rect">
            <a:avLst/>
          </a:prstGeom>
          <a:noFill/>
        </p:spPr>
        <p:txBody>
          <a:bodyPr wrap="square">
            <a:spAutoFit/>
          </a:bodyPr>
          <a:lstStyle/>
          <a:p>
            <a:pPr marL="285750" indent="-285750">
              <a:buFont typeface="Wingdings" panose="05000000000000000000" pitchFamily="2" charset="2"/>
              <a:buChar char="§"/>
            </a:pPr>
            <a:r>
              <a:rPr lang="en-US" b="1" dirty="0">
                <a:effectLst/>
                <a:latin typeface="Arial" panose="020B0604020202020204" pitchFamily="34" charset="0"/>
                <a:cs typeface="Arial" panose="020B0604020202020204" pitchFamily="34" charset="0"/>
              </a:rPr>
              <a:t>Near-Perfect Fit:</a:t>
            </a:r>
            <a:r>
              <a:rPr lang="en-US" dirty="0">
                <a:effectLst/>
                <a:latin typeface="Arial" panose="020B0604020202020204" pitchFamily="34" charset="0"/>
                <a:cs typeface="Arial" panose="020B0604020202020204" pitchFamily="34" charset="0"/>
              </a:rPr>
              <a:t> The </a:t>
            </a:r>
            <a:r>
              <a:rPr lang="en-US" b="1" dirty="0">
                <a:effectLst/>
                <a:latin typeface="Arial" panose="020B0604020202020204" pitchFamily="34" charset="0"/>
                <a:cs typeface="Arial" panose="020B0604020202020204" pitchFamily="34" charset="0"/>
              </a:rPr>
              <a:t>Actual vs Predicted</a:t>
            </a:r>
            <a:r>
              <a:rPr lang="en-US" dirty="0">
                <a:effectLst/>
                <a:latin typeface="Arial" panose="020B0604020202020204" pitchFamily="34" charset="0"/>
                <a:cs typeface="Arial" panose="020B0604020202020204" pitchFamily="34" charset="0"/>
              </a:rPr>
              <a:t> plot shows the data points tightly clustered around the red dashed "Perfect Fit" diagonal line.</a:t>
            </a:r>
          </a:p>
          <a:p>
            <a:pPr marL="285750" indent="-285750">
              <a:buFont typeface="Wingdings" panose="05000000000000000000" pitchFamily="2" charset="2"/>
              <a:buChar char="§"/>
            </a:pPr>
            <a:endParaRPr lang="en-US"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b="1" dirty="0">
                <a:effectLst/>
                <a:latin typeface="Arial" panose="020B0604020202020204" pitchFamily="34" charset="0"/>
                <a:cs typeface="Arial" panose="020B0604020202020204" pitchFamily="34" charset="0"/>
              </a:rPr>
              <a:t>High Variance Explained:</a:t>
            </a:r>
            <a:r>
              <a:rPr lang="en-US" dirty="0">
                <a:effectLst/>
                <a:latin typeface="Arial" panose="020B0604020202020204" pitchFamily="34" charset="0"/>
                <a:cs typeface="Arial" panose="020B0604020202020204" pitchFamily="34" charset="0"/>
              </a:rPr>
              <a:t> The model achieves an </a:t>
            </a:r>
            <a:r>
              <a:rPr lang="en-US" b="1" dirty="0">
                <a:effectLst/>
                <a:latin typeface="Arial" panose="020B0604020202020204" pitchFamily="34" charset="0"/>
                <a:cs typeface="Arial" panose="020B0604020202020204" pitchFamily="34" charset="0"/>
              </a:rPr>
              <a:t>$R^2$ score of 0.9980</a:t>
            </a:r>
            <a:r>
              <a:rPr lang="en-US" dirty="0">
                <a:effectLst/>
                <a:latin typeface="Arial" panose="020B0604020202020204" pitchFamily="34" charset="0"/>
                <a:cs typeface="Arial" panose="020B0604020202020204" pitchFamily="34" charset="0"/>
              </a:rPr>
              <a:t>, meaning it successfully explains 99.8% of the variance in revenue.</a:t>
            </a:r>
          </a:p>
          <a:p>
            <a:pPr marL="285750" indent="-285750">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b="1" dirty="0">
                <a:latin typeface="Arial" panose="020B0604020202020204" pitchFamily="34" charset="0"/>
                <a:cs typeface="Arial" panose="020B0604020202020204" pitchFamily="34" charset="0"/>
              </a:rPr>
              <a:t>Primary Driver:</a:t>
            </a:r>
            <a:r>
              <a:rPr lang="en-US" dirty="0">
                <a:latin typeface="Arial" panose="020B0604020202020204" pitchFamily="34" charset="0"/>
                <a:cs typeface="Arial" panose="020B0604020202020204" pitchFamily="34" charset="0"/>
              </a:rPr>
              <a:t> rev_per_employee is by far the most dominant feature, holding an importance score above 0.55.</a:t>
            </a:r>
          </a:p>
          <a:p>
            <a:pPr marL="285750" indent="-285750">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b="1" dirty="0">
                <a:latin typeface="Arial" panose="020B0604020202020204" pitchFamily="34" charset="0"/>
                <a:cs typeface="Arial" panose="020B0604020202020204" pitchFamily="34" charset="0"/>
              </a:rPr>
              <a:t>Secondary Driver:</a:t>
            </a:r>
            <a:r>
              <a:rPr lang="en-US" dirty="0">
                <a:latin typeface="Arial" panose="020B0604020202020204" pitchFamily="34" charset="0"/>
                <a:cs typeface="Arial" panose="020B0604020202020204" pitchFamily="34" charset="0"/>
              </a:rPr>
              <a:t> rev_per_customer is the second most critical feature (around 0.29).</a:t>
            </a:r>
          </a:p>
          <a:p>
            <a:pPr marL="285750" indent="-285750">
              <a:buFont typeface="Wingdings" panose="05000000000000000000" pitchFamily="2" charset="2"/>
              <a:buChar char="§"/>
            </a:pPr>
            <a:endParaRPr lang="en-US"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40817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B5ECC8-1D65-E0E2-873D-217B5030F0A3}"/>
              </a:ext>
            </a:extLst>
          </p:cNvPr>
          <p:cNvPicPr>
            <a:picLocks noChangeAspect="1"/>
          </p:cNvPicPr>
          <p:nvPr/>
        </p:nvPicPr>
        <p:blipFill>
          <a:blip r:embed="rId2"/>
          <a:stretch>
            <a:fillRect/>
          </a:stretch>
        </p:blipFill>
        <p:spPr>
          <a:xfrm>
            <a:off x="152400" y="616952"/>
            <a:ext cx="11084560" cy="3410426"/>
          </a:xfrm>
          <a:prstGeom prst="rect">
            <a:avLst/>
          </a:prstGeom>
        </p:spPr>
      </p:pic>
      <p:sp>
        <p:nvSpPr>
          <p:cNvPr id="5" name="TextBox 4">
            <a:extLst>
              <a:ext uri="{FF2B5EF4-FFF2-40B4-BE49-F238E27FC236}">
                <a16:creationId xmlns:a16="http://schemas.microsoft.com/office/drawing/2014/main" id="{80EAA322-8A97-BEB7-002A-874486232436}"/>
              </a:ext>
            </a:extLst>
          </p:cNvPr>
          <p:cNvSpPr txBox="1"/>
          <p:nvPr/>
        </p:nvSpPr>
        <p:spPr>
          <a:xfrm>
            <a:off x="589280" y="4196884"/>
            <a:ext cx="10647680" cy="1754326"/>
          </a:xfrm>
          <a:prstGeom prst="rect">
            <a:avLst/>
          </a:prstGeom>
          <a:noFill/>
        </p:spPr>
        <p:txBody>
          <a:bodyPr wrap="square">
            <a:spAutoFit/>
          </a:bodyPr>
          <a:lstStyle/>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The model demonstrates an exceptional ability to capture the variance and trends across the sample test data. The red dashed line representing </a:t>
            </a:r>
            <a:r>
              <a:rPr lang="en-US" b="1" dirty="0">
                <a:latin typeface="Arial" panose="020B0604020202020204" pitchFamily="34" charset="0"/>
                <a:cs typeface="Arial" panose="020B0604020202020204" pitchFamily="34" charset="0"/>
              </a:rPr>
              <a:t>Predicted</a:t>
            </a:r>
            <a:r>
              <a:rPr lang="en-US" dirty="0">
                <a:latin typeface="Arial" panose="020B0604020202020204" pitchFamily="34" charset="0"/>
                <a:cs typeface="Arial" panose="020B0604020202020204" pitchFamily="34" charset="0"/>
              </a:rPr>
              <a:t> values tightly mirrors the blue solid line representing </a:t>
            </a:r>
            <a:r>
              <a:rPr lang="en-US" b="1" dirty="0">
                <a:latin typeface="Arial" panose="020B0604020202020204" pitchFamily="34" charset="0"/>
                <a:cs typeface="Arial" panose="020B0604020202020204" pitchFamily="34" charset="0"/>
              </a:rPr>
              <a:t>Actual</a:t>
            </a:r>
            <a:r>
              <a:rPr lang="en-US" dirty="0">
                <a:latin typeface="Arial" panose="020B0604020202020204" pitchFamily="34" charset="0"/>
                <a:cs typeface="Arial" panose="020B0604020202020204" pitchFamily="34" charset="0"/>
              </a:rPr>
              <a:t> values.</a:t>
            </a:r>
          </a:p>
          <a:p>
            <a:pPr marL="285750" indent="-285750">
              <a:buFont typeface="Wingdings" panose="05000000000000000000" pitchFamily="2" charset="2"/>
              <a:buChar char="§"/>
            </a:pPr>
            <a:endParaRPr lang="en-U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dirty="0">
                <a:latin typeface="Arial" panose="020B0604020202020204" pitchFamily="34" charset="0"/>
                <a:cs typeface="Arial" panose="020B0604020202020204" pitchFamily="34" charset="0"/>
              </a:rPr>
              <a:t>Overall, this visualization confirms that the high performance seen in your evaluation metrics carries over perfectly to individual test samples,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58062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randombar(horizont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49F0A1-B1ED-C27A-AD33-790F06ACAAFE}"/>
              </a:ext>
            </a:extLst>
          </p:cNvPr>
          <p:cNvSpPr txBox="1"/>
          <p:nvPr/>
        </p:nvSpPr>
        <p:spPr>
          <a:xfrm>
            <a:off x="334299" y="0"/>
            <a:ext cx="11316927" cy="6617196"/>
          </a:xfrm>
          <a:prstGeom prst="rect">
            <a:avLst/>
          </a:prstGeom>
          <a:noFill/>
        </p:spPr>
        <p:txBody>
          <a:bodyPr wrap="square">
            <a:spAutoFit/>
          </a:bodyPr>
          <a:lstStyle/>
          <a:p>
            <a:pPr>
              <a:buNone/>
            </a:pPr>
            <a:r>
              <a:rPr lang="en-US" sz="1200" dirty="0">
                <a:effectLst/>
                <a:latin typeface="Arial" panose="020B0604020202020204" pitchFamily="34" charset="0"/>
                <a:cs typeface="Arial" panose="020B0604020202020204" pitchFamily="34" charset="0"/>
              </a:rPr>
              <a:t>:</a:t>
            </a:r>
          </a:p>
          <a:p>
            <a:pPr>
              <a:buNone/>
            </a:pPr>
            <a:br>
              <a:rPr lang="en-US" sz="1200" dirty="0">
                <a:effectLst/>
                <a:latin typeface="Arial" panose="020B0604020202020204" pitchFamily="34" charset="0"/>
                <a:cs typeface="Arial" panose="020B0604020202020204" pitchFamily="34" charset="0"/>
              </a:rPr>
            </a:br>
            <a:endParaRPr lang="en-US" sz="1200" dirty="0">
              <a:effectLst/>
              <a:latin typeface="Arial" panose="020B0604020202020204" pitchFamily="34" charset="0"/>
              <a:cs typeface="Arial" panose="020B0604020202020204" pitchFamily="34" charset="0"/>
            </a:endParaRPr>
          </a:p>
          <a:p>
            <a:pPr marL="285750" indent="-285750">
              <a:buFont typeface="Wingdings" panose="05000000000000000000" pitchFamily="2" charset="2"/>
              <a:buChar char="q"/>
            </a:pPr>
            <a:r>
              <a:rPr lang="en-US" sz="2000" b="1" dirty="0">
                <a:effectLst/>
                <a:latin typeface="Arial" panose="020B0604020202020204" pitchFamily="34" charset="0"/>
                <a:cs typeface="Arial" panose="020B0604020202020204" pitchFamily="34" charset="0"/>
              </a:rPr>
              <a:t>Conclusion</a:t>
            </a:r>
          </a:p>
          <a:p>
            <a:pPr>
              <a:buNone/>
            </a:pPr>
            <a:endParaRPr lang="en-US" sz="1200" b="1" dirty="0">
              <a:effectLst/>
              <a:latin typeface="Arial" panose="020B0604020202020204" pitchFamily="34" charset="0"/>
              <a:cs typeface="Arial" panose="020B0604020202020204" pitchFamily="34" charset="0"/>
            </a:endParaRPr>
          </a:p>
          <a:p>
            <a:pPr>
              <a:buNone/>
            </a:pPr>
            <a:r>
              <a:rPr lang="en-US" sz="1200" b="1" dirty="0">
                <a:effectLst/>
                <a:latin typeface="Arial" panose="020B0604020202020204" pitchFamily="34" charset="0"/>
                <a:cs typeface="Arial" panose="020B0604020202020204" pitchFamily="34" charset="0"/>
              </a:rPr>
              <a:t>1. Data Overview</a:t>
            </a:r>
          </a:p>
          <a:p>
            <a:pPr marL="171450" indent="-171450">
              <a:buFont typeface="Wingdings" panose="05000000000000000000" pitchFamily="2" charset="2"/>
              <a:buChar char="§"/>
            </a:pPr>
            <a:r>
              <a:rPr lang="en-US" sz="1200" dirty="0">
                <a:effectLst/>
                <a:latin typeface="Arial" panose="020B0604020202020204" pitchFamily="34" charset="0"/>
                <a:cs typeface="Arial" panose="020B0604020202020204" pitchFamily="34" charset="0"/>
              </a:rPr>
              <a:t>The dataset is well-balanced across </a:t>
            </a:r>
            <a:r>
              <a:rPr lang="en-US" sz="1200" b="1" dirty="0">
                <a:effectLst/>
                <a:latin typeface="Arial" panose="020B0604020202020204" pitchFamily="34" charset="0"/>
                <a:cs typeface="Arial" panose="020B0604020202020204" pitchFamily="34" charset="0"/>
              </a:rPr>
              <a:t>5 industries</a:t>
            </a:r>
            <a:r>
              <a:rPr lang="en-US" sz="1200" dirty="0">
                <a:effectLst/>
                <a:latin typeface="Arial" panose="020B0604020202020204" pitchFamily="34" charset="0"/>
                <a:cs typeface="Arial" panose="020B0604020202020204" pitchFamily="34" charset="0"/>
              </a:rPr>
              <a:t> (Finance, Technology, Retail, Manufacturing, Healthcare) and multiple countries, with each sector having exactly 3,000 entries. There are </a:t>
            </a:r>
            <a:r>
              <a:rPr lang="en-US" sz="1200" b="1" dirty="0">
                <a:effectLst/>
                <a:latin typeface="Arial" panose="020B0604020202020204" pitchFamily="34" charset="0"/>
                <a:cs typeface="Arial" panose="020B0604020202020204" pitchFamily="34" charset="0"/>
              </a:rPr>
              <a:t>zero statistical outliers</a:t>
            </a:r>
            <a:r>
              <a:rPr lang="en-US" sz="1200" dirty="0">
                <a:effectLst/>
                <a:latin typeface="Arial" panose="020B0604020202020204" pitchFamily="34" charset="0"/>
                <a:cs typeface="Arial" panose="020B0604020202020204" pitchFamily="34" charset="0"/>
              </a:rPr>
              <a:t>, making the data highly reliable for analysis.</a:t>
            </a:r>
          </a:p>
          <a:p>
            <a:pPr>
              <a:buNone/>
            </a:pPr>
            <a:endParaRPr lang="en-US" sz="1200" dirty="0">
              <a:effectLst/>
              <a:latin typeface="Arial" panose="020B0604020202020204" pitchFamily="34" charset="0"/>
              <a:cs typeface="Arial" panose="020B0604020202020204" pitchFamily="34" charset="0"/>
            </a:endParaRPr>
          </a:p>
          <a:p>
            <a:pPr>
              <a:buNone/>
            </a:pPr>
            <a:r>
              <a:rPr lang="en-US" sz="1200" b="1" dirty="0">
                <a:effectLst/>
                <a:latin typeface="Arial" panose="020B0604020202020204" pitchFamily="34" charset="0"/>
                <a:cs typeface="Arial" panose="020B0604020202020204" pitchFamily="34" charset="0"/>
              </a:rPr>
              <a:t>2. Key Business Insights</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Small teams, big revenue:</a:t>
            </a:r>
            <a:r>
              <a:rPr lang="en-US" sz="1200" dirty="0">
                <a:effectLst/>
                <a:latin typeface="Arial" panose="020B0604020202020204" pitchFamily="34" charset="0"/>
                <a:cs typeface="Arial" panose="020B0604020202020204" pitchFamily="34" charset="0"/>
              </a:rPr>
              <a:t> Companies with "Very Low" employee counts generate the </a:t>
            </a:r>
            <a:r>
              <a:rPr lang="en-US" sz="1200" i="1" dirty="0">
                <a:effectLst/>
                <a:latin typeface="Arial" panose="020B0604020202020204" pitchFamily="34" charset="0"/>
                <a:cs typeface="Arial" panose="020B0604020202020204" pitchFamily="34" charset="0"/>
              </a:rPr>
              <a:t>highest</a:t>
            </a:r>
            <a:r>
              <a:rPr lang="en-US" sz="1200" dirty="0">
                <a:effectLst/>
                <a:latin typeface="Arial" panose="020B0604020202020204" pitchFamily="34" charset="0"/>
                <a:cs typeface="Arial" panose="020B0604020202020204" pitchFamily="34" charset="0"/>
              </a:rPr>
              <a:t> average revenue (~$554.5M), indicating lean but efficient business models.</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Profit margins are stable:</a:t>
            </a:r>
            <a:r>
              <a:rPr lang="en-US" sz="1200" dirty="0">
                <a:effectLst/>
                <a:latin typeface="Arial" panose="020B0604020202020204" pitchFamily="34" charset="0"/>
                <a:cs typeface="Arial" panose="020B0604020202020204" pitchFamily="34" charset="0"/>
              </a:rPr>
              <a:t> Across all market rating groups, profit margins hold steady at ~25%, regardless of ratings — making revenue outcomes highly predictable.</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Geography matters:</a:t>
            </a:r>
            <a:r>
              <a:rPr lang="en-US" sz="1200" dirty="0">
                <a:effectLst/>
                <a:latin typeface="Arial" panose="020B0604020202020204" pitchFamily="34" charset="0"/>
                <a:cs typeface="Arial" panose="020B0604020202020204" pitchFamily="34" charset="0"/>
              </a:rPr>
              <a:t> The USA leads in average revenue ($552.9M), while India shows the most efficient model (high revenue with fewer customers). North America overall dominates with double the presence of Asia or Europe.</a:t>
            </a:r>
          </a:p>
          <a:p>
            <a:endParaRPr lang="en-US" sz="1200" dirty="0">
              <a:effectLst/>
              <a:latin typeface="Arial" panose="020B0604020202020204" pitchFamily="34" charset="0"/>
              <a:cs typeface="Arial" panose="020B0604020202020204" pitchFamily="34" charset="0"/>
            </a:endParaRPr>
          </a:p>
          <a:p>
            <a:pPr>
              <a:buNone/>
            </a:pPr>
            <a:r>
              <a:rPr lang="en-US" sz="1200" b="1" dirty="0">
                <a:effectLst/>
                <a:latin typeface="Arial" panose="020B0604020202020204" pitchFamily="34" charset="0"/>
                <a:cs typeface="Arial" panose="020B0604020202020204" pitchFamily="34" charset="0"/>
              </a:rPr>
              <a:t>3. Industry Trends</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Retail</a:t>
            </a:r>
            <a:r>
              <a:rPr lang="en-US" sz="1200" dirty="0">
                <a:effectLst/>
                <a:latin typeface="Arial" panose="020B0604020202020204" pitchFamily="34" charset="0"/>
                <a:cs typeface="Arial" panose="020B0604020202020204" pitchFamily="34" charset="0"/>
              </a:rPr>
              <a:t> companies founded between 2001–2007 peaked at over $580M in revenue.</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Healthcare</a:t>
            </a:r>
            <a:r>
              <a:rPr lang="en-US" sz="1200" dirty="0">
                <a:effectLst/>
                <a:latin typeface="Arial" panose="020B0604020202020204" pitchFamily="34" charset="0"/>
                <a:cs typeface="Arial" panose="020B0604020202020204" pitchFamily="34" charset="0"/>
              </a:rPr>
              <a:t> is on an upward trajectory for companies founded after 2013.</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Technology</a:t>
            </a:r>
            <a:r>
              <a:rPr lang="en-US" sz="1200" dirty="0">
                <a:effectLst/>
                <a:latin typeface="Arial" panose="020B0604020202020204" pitchFamily="34" charset="0"/>
                <a:cs typeface="Arial" panose="020B0604020202020204" pitchFamily="34" charset="0"/>
              </a:rPr>
              <a:t> older firms performed better; newer tech companies show a declining revenue trend.</a:t>
            </a:r>
          </a:p>
          <a:p>
            <a:pPr>
              <a:buFont typeface="Arial" panose="020B0604020202020204" pitchFamily="34" charset="0"/>
              <a:buChar char="•"/>
            </a:pPr>
            <a:endParaRPr lang="en-US" sz="1200" dirty="0">
              <a:effectLst/>
              <a:latin typeface="Arial" panose="020B0604020202020204" pitchFamily="34" charset="0"/>
              <a:cs typeface="Arial" panose="020B0604020202020204" pitchFamily="34" charset="0"/>
            </a:endParaRPr>
          </a:p>
          <a:p>
            <a:pPr>
              <a:buNone/>
            </a:pPr>
            <a:r>
              <a:rPr lang="en-US" sz="1200" b="1" dirty="0">
                <a:effectLst/>
                <a:latin typeface="Arial" panose="020B0604020202020204" pitchFamily="34" charset="0"/>
                <a:cs typeface="Arial" panose="020B0604020202020204" pitchFamily="34" charset="0"/>
              </a:rPr>
              <a:t>4. ML Model Performance</a:t>
            </a:r>
          </a:p>
          <a:p>
            <a:pPr marL="171450" indent="-171450">
              <a:buFont typeface="Wingdings" panose="05000000000000000000" pitchFamily="2" charset="2"/>
              <a:buChar char="§"/>
            </a:pPr>
            <a:r>
              <a:rPr lang="en-US" sz="1200" dirty="0">
                <a:effectLst/>
                <a:latin typeface="Arial" panose="020B0604020202020204" pitchFamily="34" charset="0"/>
                <a:cs typeface="Arial" panose="020B0604020202020204" pitchFamily="34" charset="0"/>
              </a:rPr>
              <a:t>Three models were tested, and </a:t>
            </a:r>
            <a:r>
              <a:rPr lang="en-US" sz="1200" b="1" dirty="0">
                <a:effectLst/>
                <a:latin typeface="Arial" panose="020B0604020202020204" pitchFamily="34" charset="0"/>
                <a:cs typeface="Arial" panose="020B0604020202020204" pitchFamily="34" charset="0"/>
              </a:rPr>
              <a:t>XGBoost</a:t>
            </a:r>
            <a:r>
              <a:rPr lang="en-US" sz="1200" dirty="0">
                <a:effectLst/>
                <a:latin typeface="Arial" panose="020B0604020202020204" pitchFamily="34" charset="0"/>
                <a:cs typeface="Arial" panose="020B0604020202020204" pitchFamily="34" charset="0"/>
              </a:rPr>
              <a:t> was the  winner:</a:t>
            </a:r>
          </a:p>
          <a:p>
            <a:pPr marL="171450" indent="-171450">
              <a:buFont typeface="Wingdings" panose="05000000000000000000" pitchFamily="2" charset="2"/>
              <a:buChar char="§"/>
            </a:pPr>
            <a:r>
              <a:rPr lang="en-US" sz="1200" dirty="0">
                <a:effectLst/>
                <a:latin typeface="Arial" panose="020B0604020202020204" pitchFamily="34" charset="0"/>
                <a:cs typeface="Arial" panose="020B0604020202020204" pitchFamily="34" charset="0"/>
              </a:rPr>
              <a:t>XGBoost explains </a:t>
            </a:r>
            <a:r>
              <a:rPr lang="en-US" sz="1200" b="1" dirty="0">
                <a:effectLst/>
                <a:latin typeface="Arial" panose="020B0604020202020204" pitchFamily="34" charset="0"/>
                <a:cs typeface="Arial" panose="020B0604020202020204" pitchFamily="34" charset="0"/>
              </a:rPr>
              <a:t>99.8% of revenue variance</a:t>
            </a:r>
            <a:r>
              <a:rPr lang="en-US" sz="1200" dirty="0">
                <a:effectLst/>
                <a:latin typeface="Arial" panose="020B0604020202020204" pitchFamily="34" charset="0"/>
                <a:cs typeface="Arial" panose="020B0604020202020204" pitchFamily="34" charset="0"/>
              </a:rPr>
              <a:t> with only ~1.77% average prediction error.</a:t>
            </a:r>
          </a:p>
          <a:p>
            <a:pPr>
              <a:buNone/>
            </a:pPr>
            <a:endParaRPr lang="en-US" sz="1200" dirty="0">
              <a:effectLst/>
              <a:latin typeface="Arial" panose="020B0604020202020204" pitchFamily="34" charset="0"/>
              <a:cs typeface="Arial" panose="020B0604020202020204" pitchFamily="34" charset="0"/>
            </a:endParaRPr>
          </a:p>
          <a:p>
            <a:pPr>
              <a:buNone/>
            </a:pPr>
            <a:r>
              <a:rPr lang="en-US" sz="1200" b="1" dirty="0">
                <a:effectLst/>
                <a:latin typeface="Arial" panose="020B0604020202020204" pitchFamily="34" charset="0"/>
                <a:cs typeface="Arial" panose="020B0604020202020204" pitchFamily="34" charset="0"/>
              </a:rPr>
              <a:t>5. Top Revenue Drivers</a:t>
            </a:r>
          </a:p>
          <a:p>
            <a:pPr>
              <a:buNone/>
            </a:pPr>
            <a:r>
              <a:rPr lang="en-US" sz="1200" dirty="0">
                <a:effectLst/>
                <a:latin typeface="Arial" panose="020B0604020202020204" pitchFamily="34" charset="0"/>
                <a:cs typeface="Arial" panose="020B0604020202020204" pitchFamily="34" charset="0"/>
              </a:rPr>
              <a:t>The two most critical features driving revenue prediction are:</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Revenue per Employee</a:t>
            </a:r>
            <a:r>
              <a:rPr lang="en-US" sz="1200" dirty="0">
                <a:effectLst/>
                <a:latin typeface="Arial" panose="020B0604020202020204" pitchFamily="34" charset="0"/>
                <a:cs typeface="Arial" panose="020B0604020202020204" pitchFamily="34" charset="0"/>
              </a:rPr>
              <a:t> (importance score &gt; 0.55) — the #1 driver</a:t>
            </a:r>
          </a:p>
          <a:p>
            <a:pPr marL="171450" indent="-171450">
              <a:buFont typeface="Wingdings" panose="05000000000000000000" pitchFamily="2" charset="2"/>
              <a:buChar char="§"/>
            </a:pPr>
            <a:r>
              <a:rPr lang="en-US" sz="1200" b="1" dirty="0">
                <a:effectLst/>
                <a:latin typeface="Arial" panose="020B0604020202020204" pitchFamily="34" charset="0"/>
                <a:cs typeface="Arial" panose="020B0604020202020204" pitchFamily="34" charset="0"/>
              </a:rPr>
              <a:t>Revenue per Customer</a:t>
            </a:r>
            <a:r>
              <a:rPr lang="en-US" sz="1200" dirty="0">
                <a:effectLst/>
                <a:latin typeface="Arial" panose="020B0604020202020204" pitchFamily="34" charset="0"/>
                <a:cs typeface="Arial" panose="020B0604020202020204" pitchFamily="34" charset="0"/>
              </a:rPr>
              <a:t> (~0.29) — the #2 driver</a:t>
            </a:r>
          </a:p>
          <a:p>
            <a:pPr>
              <a:buNone/>
            </a:pPr>
            <a:endParaRPr lang="en-US" sz="1200" dirty="0">
              <a:effectLst/>
              <a:latin typeface="Arial" panose="020B0604020202020204" pitchFamily="34" charset="0"/>
              <a:cs typeface="Arial" panose="020B0604020202020204" pitchFamily="34" charset="0"/>
            </a:endParaRPr>
          </a:p>
          <a:p>
            <a:pPr marL="171450" indent="-171450">
              <a:buFont typeface="Courier New" panose="02070309020205020404" pitchFamily="49" charset="0"/>
              <a:buChar char="o"/>
            </a:pPr>
            <a:r>
              <a:rPr lang="en-US" sz="1200" b="1" u="sng" dirty="0">
                <a:effectLst/>
                <a:latin typeface="Arial" panose="020B0604020202020204" pitchFamily="34" charset="0"/>
                <a:cs typeface="Arial" panose="020B0604020202020204" pitchFamily="34" charset="0"/>
              </a:rPr>
              <a:t>Overall Takeaway: The model built successfully predicts annual industry revenue with near-perfect accuracy. Operational efficiency (revenue per employee/customer) is the strongest predictor of business revenue, and the XGBoost model is ready for real-world deployment.</a:t>
            </a:r>
          </a:p>
          <a:p>
            <a:pPr>
              <a:buNone/>
            </a:pPr>
            <a:endParaRPr lang="en-US" sz="120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106827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127</TotalTime>
  <Words>1485</Words>
  <Application>Microsoft Office PowerPoint</Application>
  <PresentationFormat>Widescreen</PresentationFormat>
  <Paragraphs>154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Century Gothic</vt:lpstr>
      <vt:lpstr>Courier New</vt:lpstr>
      <vt:lpstr>Wingdings</vt:lpstr>
      <vt:lpstr>Wingdings 3</vt:lpstr>
      <vt:lpstr>Ion Boardroom</vt:lpstr>
      <vt:lpstr>NEXT HIKES IT SOLUTIONS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Vincy Mehta</dc:creator>
  <cp:lastModifiedBy>Vincy Mehta</cp:lastModifiedBy>
  <cp:revision>6</cp:revision>
  <dcterms:created xsi:type="dcterms:W3CDTF">2026-05-26T05:43:36Z</dcterms:created>
  <dcterms:modified xsi:type="dcterms:W3CDTF">2026-05-26T13:01:40Z</dcterms:modified>
</cp:coreProperties>
</file>